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C81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KERALAMMATCH</a:t>
            </a:r>
          </a:p>
          <a:p>
            <a:pPr>
              <a:spcAft>
                <a:spcPts val="1600"/>
              </a:spcAft>
              <a:defRPr sz="2000" b="1">
                <a:solidFill>
                  <a:srgbClr val="D4AF37"/>
                </a:solidFill>
              </a:defRPr>
            </a:pPr>
            <a:r>
              <a:t>Complete End-to-End Software Architecture &amp; Master System Presentation</a:t>
            </a:r>
          </a:p>
          <a:p>
            <a:pPr>
              <a:defRPr sz="1200">
                <a:solidFill>
                  <a:srgbClr val="DFE5EF"/>
                </a:solidFill>
              </a:defRPr>
            </a:pPr>
            <a:r>
              <a:t>Customer Panel · Admin Panel · 24h Ephemeral Reveal · Security · Razorpay · Production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Overview &amp; Core Architectural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The Legacy Problem vs KeralamMatch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The Privacy Crisis: </a:t>
            </a:r>
            <a:r>
              <a:rPr sz="950">
                <a:solidFill>
                  <a:srgbClr val="DFE5EF"/>
                </a:solidFill>
              </a:rPr>
              <a:t>Legacy portals publicly expose candidate phone numbers, photos, and personal details to anonymous crawlers.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Harassment &amp; Spam: </a:t>
            </a:r>
            <a:r>
              <a:rPr sz="950">
                <a:solidFill>
                  <a:srgbClr val="DFE5EF"/>
                </a:solidFill>
              </a:rPr>
              <a:t>Unsolicited calls, stalking, and unvetted profiles plague conventional matchmaking websites.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The KeralamMatch Solution: </a:t>
            </a:r>
            <a:r>
              <a:rPr sz="950">
                <a:solidFill>
                  <a:srgbClr val="DFE5EF"/>
                </a:solidFill>
              </a:rPr>
              <a:t>Kerala's premier privacy-first matrimonial platform designed specifically for the global Malayali community.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Clean Architecture: </a:t>
            </a:r>
            <a:r>
              <a:rPr sz="950">
                <a:solidFill>
                  <a:srgbClr val="DFE5EF"/>
                </a:solidFill>
              </a:rPr>
              <a:t>Strict domain separation, typed repositories, and secure server actions across 53 compiled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4 Core Architectural Pillars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Consent-Based Ephemeral Reveal: </a:t>
            </a:r>
            <a:r>
              <a:rPr sz="950">
                <a:solidFill>
                  <a:srgbClr val="DFE5EF"/>
                </a:solidFill>
              </a:rPr>
              <a:t>Encrypted phone &amp; email credentials unlocked for exactly 24 hours upon mutual consent, then auto-locked.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Multi-Layer Verification Queue: </a:t>
            </a:r>
            <a:r>
              <a:rPr sz="950">
                <a:solidFill>
                  <a:srgbClr val="DFE5EF"/>
                </a:solidFill>
              </a:rPr>
              <a:t>Mobile SMS OTP, selfie facial liveness checks, and optional Aadhaar/Govt ID verification badges.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AI Attribute &amp; Horoscope Matcher: </a:t>
            </a:r>
            <a:r>
              <a:rPr sz="950">
                <a:solidFill>
                  <a:srgbClr val="DFE5EF"/>
                </a:solidFill>
              </a:rPr>
              <a:t>Algorithmic compatibility percentage calculated across 12 candidate lifestyle, career, and astro criteria.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Admin Privacy Shield: </a:t>
            </a:r>
            <a:r>
              <a:rPr sz="950">
                <a:solidFill>
                  <a:srgbClr val="DFE5EF"/>
                </a:solidFill>
              </a:rPr>
              <a:t>Architectural barrier preventing administrators from accessing un-redacted user messages without audit flags.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Journey Flowchart</a:t>
            </a:r>
          </a:p>
        </p:txBody>
      </p:sp>
      <p:pic>
        <p:nvPicPr>
          <p:cNvPr id="5" name="Picture 4" descr="end_to_end_flow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971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Platforms &amp; Technology Stack (Used Now)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Frontend &amp; UI Layer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Next.js 16 App Router: </a:t>
            </a:r>
            <a:r>
              <a:rPr sz="950">
                <a:solidFill>
                  <a:srgbClr val="DFE5EF"/>
                </a:solidFill>
              </a:rPr>
              <a:t>Server Components + Turbopack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React 19 &amp; TypeScript: </a:t>
            </a:r>
            <a:r>
              <a:rPr sz="950">
                <a:solidFill>
                  <a:srgbClr val="DFE5EF"/>
                </a:solidFill>
              </a:rPr>
              <a:t>Strict type-safe interfaces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Tailwind CSS v4: </a:t>
            </a:r>
            <a:r>
              <a:rPr sz="950">
                <a:solidFill>
                  <a:srgbClr val="DFE5EF"/>
                </a:solidFill>
              </a:rPr>
              <a:t>Curated HSL design tokens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Lucide React Icons: </a:t>
            </a:r>
            <a:r>
              <a:rPr sz="950">
                <a:solidFill>
                  <a:srgbClr val="DFE5EF"/>
                </a:solidFill>
              </a:rPr>
              <a:t>Crisp vector icons suite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PWA Infrastructure: </a:t>
            </a:r>
            <a:r>
              <a:rPr sz="950">
                <a:solidFill>
                  <a:srgbClr val="DFE5EF"/>
                </a:solidFill>
              </a:rPr>
              <a:t>Manifest, service worker, caching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Backend &amp; Data Layer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Neon PostgreSQL: </a:t>
            </a:r>
            <a:r>
              <a:rPr sz="950">
                <a:solidFill>
                  <a:srgbClr val="DFE5EF"/>
                </a:solidFill>
              </a:rPr>
              <a:t>Serverless PostgreSQL with SSL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Prisma ORM v6: </a:t>
            </a:r>
            <a:r>
              <a:rPr sz="950">
                <a:solidFill>
                  <a:srgbClr val="DFE5EF"/>
                </a:solidFill>
              </a:rPr>
              <a:t>Model migrations &amp; schema relations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AES-256 Encryption: </a:t>
            </a:r>
            <a:r>
              <a:rPr sz="950">
                <a:solidFill>
                  <a:srgbClr val="DFE5EF"/>
                </a:solidFill>
              </a:rPr>
              <a:t>Field-level encryption at rest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Upstash Redis: </a:t>
            </a:r>
            <a:r>
              <a:rPr sz="950">
                <a:solidFill>
                  <a:srgbClr val="DFE5EF"/>
                </a:solidFill>
              </a:rPr>
              <a:t>Sliding-window API rate limiter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Clean Architecture: </a:t>
            </a:r>
            <a:r>
              <a:rPr sz="950">
                <a:solidFill>
                  <a:srgbClr val="DFE5EF"/>
                </a:solidFill>
              </a:rPr>
              <a:t>Controllers, Services, Repos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Third-Party Integrations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Firebase Auth: </a:t>
            </a:r>
            <a:r>
              <a:rPr sz="950">
                <a:solidFill>
                  <a:srgbClr val="DFE5EF"/>
                </a:solidFill>
              </a:rPr>
              <a:t>SMS Phone OTP + Google OAuth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Cloudinary CDN: </a:t>
            </a:r>
            <a:r>
              <a:rPr sz="950">
                <a:solidFill>
                  <a:srgbClr val="DFE5EF"/>
                </a:solidFill>
              </a:rPr>
              <a:t>AVIF/WebP image optimization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Razorpay Gateway: </a:t>
            </a:r>
            <a:r>
              <a:rPr sz="950">
                <a:solidFill>
                  <a:srgbClr val="DFE5EF"/>
                </a:solidFill>
              </a:rPr>
              <a:t>UPI, Netbanking, Card checkout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Resend Email API: </a:t>
            </a:r>
            <a:r>
              <a:rPr sz="950">
                <a:solidFill>
                  <a:srgbClr val="DFE5EF"/>
                </a:solidFill>
              </a:rPr>
              <a:t>Branded transactional templates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Google Analytics 4: </a:t>
            </a:r>
            <a:r>
              <a:rPr sz="950">
                <a:solidFill>
                  <a:srgbClr val="DFE5EF"/>
                </a:solidFill>
              </a:rPr>
              <a:t>Traffic metrics &amp; event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Customer Panel: Landing, Public SEO &amp;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Landing &amp; SEO Discovery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High-Converting Hero: </a:t>
            </a:r>
            <a:r>
              <a:rPr sz="950">
                <a:solidFill>
                  <a:srgbClr val="DFE5EF"/>
                </a:solidFill>
              </a:rPr>
              <a:t>Serif headline, authentic Kerala couple imagery, and prominent CTA buttons.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Dark Maroon Stat Bar: </a:t>
            </a:r>
            <a:r>
              <a:rPr sz="950">
                <a:solidFill>
                  <a:srgbClr val="DFE5EF"/>
                </a:solidFill>
              </a:rPr>
              <a:t>50,000+ Happy Members, 100+ Communities, 98% Verified, 24/7 Support.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District SEO Pages: </a:t>
            </a:r>
            <a:r>
              <a:rPr sz="950">
                <a:solidFill>
                  <a:srgbClr val="DFE5EF"/>
                </a:solidFill>
              </a:rPr>
              <a:t>13 dedicated landing pages for Trivandrum, Ernakulam, Kozhikode, etc.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Community Matrimony: </a:t>
            </a:r>
            <a:r>
              <a:rPr sz="950">
                <a:solidFill>
                  <a:srgbClr val="DFE5EF"/>
                </a:solidFill>
              </a:rPr>
              <a:t>Dedicated hubs for Nair, Ezhava, Christian, Latin Catholic, and Muslim.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Blog Magazine: </a:t>
            </a:r>
            <a:r>
              <a:rPr sz="950">
                <a:solidFill>
                  <a:srgbClr val="DFE5EF"/>
                </a:solidFill>
              </a:rPr>
              <a:t>7 rich articles on safety tips, traditions, and success stories.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Split-Screen Authentication (/auth)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Branded Left Panel: </a:t>
            </a:r>
            <a:r>
              <a:rPr sz="950">
                <a:solidFill>
                  <a:srgbClr val="DFE5EF"/>
                </a:solidFill>
              </a:rPr>
              <a:t>Deep Maroon (#5C0A1E) background with traditional Nilavilakku lamp graphic motif.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Mobile Phone OTP: </a:t>
            </a:r>
            <a:r>
              <a:rPr sz="950">
                <a:solidFill>
                  <a:srgbClr val="DFE5EF"/>
                </a:solidFill>
              </a:rPr>
              <a:t>Indian (+91) phone number entry with automated 6-digit SMS OTP verification.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Google OAuth 2.0: </a:t>
            </a:r>
            <a:r>
              <a:rPr sz="950">
                <a:solidFill>
                  <a:srgbClr val="DFE5EF"/>
                </a:solidFill>
              </a:rPr>
              <a:t>One-click authentication for fast account access.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Encrypted Session Cookie: </a:t>
            </a:r>
            <a:r>
              <a:rPr sz="950">
                <a:solidFill>
                  <a:srgbClr val="DFE5EF"/>
                </a:solidFill>
              </a:rPr>
              <a:t>HTTP-only 'km_session' token with secure server-side validation.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Developer Sandbox OTP: </a:t>
            </a:r>
            <a:r>
              <a:rPr sz="950">
                <a:solidFill>
                  <a:srgbClr val="DFE5EF"/>
                </a:solidFill>
              </a:rPr>
              <a:t>Built-in sandbox OTP (123456) fallback for offline/test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Customer Panel: 10-Step Intelligent Onboarding Wizard (/join)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Steps 1 to 5: Personal &amp; Career Profile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1: Basic Information: </a:t>
            </a:r>
            <a:r>
              <a:rPr sz="950">
                <a:solidFill>
                  <a:srgbClr val="DFE5EF"/>
                </a:solidFill>
              </a:rPr>
              <a:t>Full name, DOB, gender, profile owner (Self/Parent/Sibling).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2: Physical Attributes: </a:t>
            </a:r>
            <a:r>
              <a:rPr sz="950">
                <a:solidFill>
                  <a:srgbClr val="DFE5EF"/>
                </a:solidFill>
              </a:rPr>
              <a:t>Height in cm, complexion, body type, physical status.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3: Religion &amp; Community: </a:t>
            </a:r>
            <a:r>
              <a:rPr sz="950">
                <a:solidFill>
                  <a:srgbClr val="DFE5EF"/>
                </a:solidFill>
              </a:rPr>
              <a:t>Religion, caste, sub-caste, mother tongue, horoscope details.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4: Education &amp; Profession: </a:t>
            </a:r>
            <a:r>
              <a:rPr sz="950">
                <a:solidFill>
                  <a:srgbClr val="DFE5EF"/>
                </a:solidFill>
              </a:rPr>
              <a:t>Degree qualification, university, job title, annual income range.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5: Location Details: </a:t>
            </a:r>
            <a:r>
              <a:rPr sz="950">
                <a:solidFill>
                  <a:srgbClr val="DFE5EF"/>
                </a:solidFill>
              </a:rPr>
              <a:t>State, district, current living city, native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Steps 6 to 10: Preferences &amp; Verification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6: Family Details: </a:t>
            </a:r>
            <a:r>
              <a:rPr sz="950">
                <a:solidFill>
                  <a:srgbClr val="DFE5EF"/>
                </a:solidFill>
              </a:rPr>
              <a:t>Family type (Joint/Nuclear), values, status, parental details.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7: Lifestyle Habits: </a:t>
            </a:r>
            <a:r>
              <a:rPr sz="950">
                <a:solidFill>
                  <a:srgbClr val="DFE5EF"/>
                </a:solidFill>
              </a:rPr>
              <a:t>Dietary preference (Veg/Non-Veg), smoking, drinking habits.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8: Partner Preferences: </a:t>
            </a:r>
            <a:r>
              <a:rPr sz="950">
                <a:solidFill>
                  <a:srgbClr val="DFE5EF"/>
                </a:solidFill>
              </a:rPr>
              <a:t>Desired age range, height, religion, caste, district filter.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9: Cloudinary Media: </a:t>
            </a:r>
            <a:r>
              <a:rPr sz="950">
                <a:solidFill>
                  <a:srgbClr val="DFE5EF"/>
                </a:solidFill>
              </a:rPr>
              <a:t>Gallery photo upload dropzone with watermarking &amp; voice intro.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Step 10: Verification Queue: </a:t>
            </a:r>
            <a:r>
              <a:rPr sz="950">
                <a:solidFill>
                  <a:srgbClr val="DFE5EF"/>
                </a:solidFill>
              </a:rPr>
              <a:t>Selfie liveness check &amp; Aadhaar ID upload for queue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Customer Panel: Dashboard, Discovery &amp; Matching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Member Dashboard (/dashboard)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Welcome Greeting: </a:t>
            </a:r>
            <a:r>
              <a:rPr sz="950">
                <a:solidFill>
                  <a:srgbClr val="DFE5EF"/>
                </a:solidFill>
              </a:rPr>
              <a:t>Personalized greeting 'Welcome back, [Name] 👋'.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Profile Completion Ring: </a:t>
            </a:r>
            <a:r>
              <a:rPr sz="950">
                <a:solidFill>
                  <a:srgbClr val="DFE5EF"/>
                </a:solidFill>
              </a:rPr>
              <a:t>Interactive circular progress indicator with 'Update Now' CTA.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Profile Views Analytics: </a:t>
            </a:r>
            <a:r>
              <a:rPr sz="950">
                <a:solidFill>
                  <a:srgbClr val="DFE5EF"/>
                </a:solidFill>
              </a:rPr>
              <a:t>Tracks real-time profile visits with weekly growth delta badges.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Recommendations Grid: </a:t>
            </a:r>
            <a:r>
              <a:rPr sz="950">
                <a:solidFill>
                  <a:srgbClr val="DFE5EF"/>
                </a:solidFill>
              </a:rPr>
              <a:t>Curated candidate cards based on user's partner preferences.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Left Navigation Sidebar: </a:t>
            </a:r>
            <a:r>
              <a:rPr sz="950">
                <a:solidFill>
                  <a:srgbClr val="DFE5EF"/>
                </a:solidFill>
              </a:rPr>
              <a:t>Quick access to Dashboard, Matches, Messages, Requests, Settings.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Find Matches &amp; Smart Search (/find)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Quick Filter Selectors: </a:t>
            </a:r>
            <a:r>
              <a:rPr sz="950">
                <a:solidFill>
                  <a:srgbClr val="DFE5EF"/>
                </a:solidFill>
              </a:rPr>
              <a:t>Dropdowns for Religion, Caste, District, Age Range, Education.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AI Smart Search Bar: </a:t>
            </a:r>
            <a:r>
              <a:rPr sz="950">
                <a:solidFill>
                  <a:srgbClr val="DFE5EF"/>
                </a:solidFill>
              </a:rPr>
              <a:t>Natural language query box (e.g. 'Software engineer from Ernakulam preferring vegetarian diet').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12-Attribute Match Score: </a:t>
            </a:r>
            <a:r>
              <a:rPr sz="950">
                <a:solidFill>
                  <a:srgbClr val="DFE5EF"/>
                </a:solidFill>
              </a:rPr>
              <a:t>Calculates compatibility % based on career, lifestyle, and horoscope alignment.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Candidate Profile View: </a:t>
            </a:r>
            <a:r>
              <a:rPr sz="950">
                <a:solidFill>
                  <a:srgbClr val="DFE5EF"/>
                </a:solidFill>
              </a:rPr>
              <a:t>Rich profile detail view (/profile/[id]) with verified checkmarks.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Breakthrough Feature: 24-Hour Ephemeral Contact 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1. Request Initiation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Action Choice: </a:t>
            </a:r>
            <a:r>
              <a:rPr sz="950">
                <a:solidFill>
                  <a:srgbClr val="DFE5EF"/>
                </a:solidFill>
              </a:rPr>
              <a:t>Candidate A clicks 'Send Contact Request' on Candidate B's profile.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Wallet Check: </a:t>
            </a:r>
            <a:r>
              <a:rPr sz="950">
                <a:solidFill>
                  <a:srgbClr val="DFE5EF"/>
                </a:solidFill>
              </a:rPr>
              <a:t>Checks user subscription tier or decrements 1 reveal credit token.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Alert Trigger: </a:t>
            </a:r>
            <a:r>
              <a:rPr sz="950">
                <a:solidFill>
                  <a:srgbClr val="DFE5EF"/>
                </a:solidFill>
              </a:rPr>
              <a:t>Candidate B receives in-app notification and transactional email notice.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Masked Data: </a:t>
            </a:r>
            <a:r>
              <a:rPr sz="950">
                <a:solidFill>
                  <a:srgbClr val="DFE5EF"/>
                </a:solidFill>
              </a:rPr>
              <a:t>Credentials remain completely encrypted and invisible.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2. Mutual Consent Approval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Consent Screen: </a:t>
            </a:r>
            <a:r>
              <a:rPr sz="950">
                <a:solidFill>
                  <a:srgbClr val="DFE5EF"/>
                </a:solidFill>
              </a:rPr>
              <a:t>Candidate B inspects Candidate A's verified profile.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Accept / Decline: </a:t>
            </a:r>
            <a:r>
              <a:rPr sz="950">
                <a:solidFill>
                  <a:srgbClr val="DFE5EF"/>
                </a:solidFill>
              </a:rPr>
              <a:t>Candidate B clicks 'Accept' to give explicit disclosure permission.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Timer Activation: </a:t>
            </a:r>
            <a:r>
              <a:rPr sz="950">
                <a:solidFill>
                  <a:srgbClr val="DFE5EF"/>
                </a:solidFill>
              </a:rPr>
              <a:t>Backend sets expiresAt = now + 24 hours.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Real-Time Notification: </a:t>
            </a:r>
            <a:r>
              <a:rPr sz="950">
                <a:solidFill>
                  <a:srgbClr val="DFE5EF"/>
                </a:solidFill>
              </a:rPr>
              <a:t>Candidate A receives instant acceptance alert.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3. 24h Window &amp; Expiry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Credential Decryption: </a:t>
            </a:r>
            <a:r>
              <a:rPr sz="950">
                <a:solidFill>
                  <a:srgbClr val="DFE5EF"/>
                </a:solidFill>
              </a:rPr>
              <a:t>AES-256 decrypted phone number &amp; email are revealed on profile page.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Live Countdown: </a:t>
            </a:r>
            <a:r>
              <a:rPr sz="950">
                <a:solidFill>
                  <a:srgbClr val="DFE5EF"/>
                </a:solidFill>
              </a:rPr>
              <a:t>Real-time visual timer counts down 24:00:00 remaining hours.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Auto-Locking: </a:t>
            </a:r>
            <a:r>
              <a:rPr sz="950">
                <a:solidFill>
                  <a:srgbClr val="DFE5EF"/>
                </a:solidFill>
              </a:rPr>
              <a:t>At t &gt; 24 hours, credentials automatically re-lock and disappear.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Privacy Protected: </a:t>
            </a:r>
            <a:r>
              <a:rPr sz="950">
                <a:solidFill>
                  <a:srgbClr val="DFE5EF"/>
                </a:solidFill>
              </a:rPr>
              <a:t>Zero permanent phone number leaks on the public web.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Customer Panel: In-App Encrypted Chat &amp; Notification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In-App Encrypted Chat (/chat)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Split-Pane Messaging: </a:t>
            </a:r>
            <a:r>
              <a:rPr sz="950">
                <a:solidFill>
                  <a:srgbClr val="DFE5EF"/>
                </a:solidFill>
              </a:rPr>
              <a:t>Left thread list with avatars, timestamps, and unread badges; Right active chat window.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Encryption Indicator: </a:t>
            </a:r>
            <a:r>
              <a:rPr sz="950">
                <a:solidFill>
                  <a:srgbClr val="DFE5EF"/>
                </a:solidFill>
              </a:rPr>
              <a:t>Banner confirming 'Messages are encrypted and private'.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Branded Bubbles: </a:t>
            </a:r>
            <a:r>
              <a:rPr sz="950">
                <a:solidFill>
                  <a:srgbClr val="DFE5EF"/>
                </a:solidFill>
              </a:rPr>
              <a:t>Sender bubbles in Crimson (#C81D45), receiver bubbles in Warm Ivory (#FCFBF7) with double checkmarks.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Instant Safety Controls: </a:t>
            </a:r>
            <a:r>
              <a:rPr sz="950">
                <a:solidFill>
                  <a:srgbClr val="DFE5EF"/>
                </a:solidFill>
              </a:rPr>
              <a:t>One-click 'Block User' and 'Report Profile' triggers.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Rate Limiting Guard: </a:t>
            </a:r>
            <a:r>
              <a:rPr sz="950">
                <a:solidFill>
                  <a:srgbClr val="DFE5EF"/>
                </a:solidFill>
              </a:rPr>
              <a:t>Upstash Redis throttles message spam (30 messages/min limit).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Central Notification Hub (/notifications)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Categorized Alerts: </a:t>
            </a:r>
            <a:r>
              <a:rPr sz="950">
                <a:solidFill>
                  <a:srgbClr val="DFE5EF"/>
                </a:solidFill>
              </a:rPr>
              <a:t>Distinct icon badges for Requests (Heart), Messages (Chat), Verifications (Shield), Payments (Coins).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Real-Time In-App Alerts: </a:t>
            </a:r>
            <a:r>
              <a:rPr sz="950">
                <a:solidFill>
                  <a:srgbClr val="DFE5EF"/>
                </a:solidFill>
              </a:rPr>
              <a:t>Instant red indicator badge on header navigation.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Email Synchronization: </a:t>
            </a:r>
            <a:r>
              <a:rPr sz="950">
                <a:solidFill>
                  <a:srgbClr val="DFE5EF"/>
                </a:solidFill>
              </a:rPr>
              <a:t>Resend API sends transactional emails for high-priority actions.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Batch Actions: </a:t>
            </a:r>
            <a:r>
              <a:rPr sz="950">
                <a:solidFill>
                  <a:srgbClr val="DFE5EF"/>
                </a:solidFill>
              </a:rPr>
              <a:t>'Mark all as read' button clears unread counters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Monetization: Membership Plans &amp; Razorpay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Membership Subscriptions &amp; Wallet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Tiered Plans: </a:t>
            </a:r>
            <a:r>
              <a:rPr sz="950">
                <a:solidFill>
                  <a:srgbClr val="DFE5EF"/>
                </a:solidFill>
              </a:rPr>
              <a:t>Free, Silver (₹999/mo), Gold (₹1,999/3mo - Most Popular), Platinum (₹3,499/yr).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Feature Unlocks: </a:t>
            </a:r>
            <a:r>
              <a:rPr sz="950">
                <a:solidFill>
                  <a:srgbClr val="DFE5EF"/>
                </a:solidFill>
              </a:rPr>
              <a:t>Unlimited chat messages, 5 to 25 verified reveals, Astro matching, priority support.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Pay-Per-Reveal Credit Packs: </a:t>
            </a:r>
            <a:r>
              <a:rPr sz="950">
                <a:solidFill>
                  <a:srgbClr val="DFE5EF"/>
                </a:solidFill>
              </a:rPr>
              <a:t>Flexible wallet recharge packs (₹99 for 1 reveal, ₹499 for 5 reveals).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100% Secure Guarantee: </a:t>
            </a:r>
            <a:r>
              <a:rPr sz="950">
                <a:solidFill>
                  <a:srgbClr val="DFE5EF"/>
                </a:solidFill>
              </a:rPr>
              <a:t>SSL encryption, instant receipt downloads, and transparent 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Razorpay Payment Processing Flow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Order Creation: </a:t>
            </a:r>
            <a:r>
              <a:rPr sz="950">
                <a:solidFill>
                  <a:srgbClr val="DFE5EF"/>
                </a:solidFill>
              </a:rPr>
              <a:t>Next.js Server Action initializes secure order with Razorpay Order API.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Modal Checkout: </a:t>
            </a:r>
            <a:r>
              <a:rPr sz="950">
                <a:solidFill>
                  <a:srgbClr val="DFE5EF"/>
                </a:solidFill>
              </a:rPr>
              <a:t>Native Razorpay Checkout supporting UPI (GPay, PhonePe), Netbanking, and Cards.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Webhook Verification: </a:t>
            </a:r>
            <a:r>
              <a:rPr sz="950">
                <a:solidFill>
                  <a:srgbClr val="DFE5EF"/>
                </a:solidFill>
              </a:rPr>
              <a:t>Asynchronous signature verification (/api/payments/razorpay/webhook).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Instant Provisioning: </a:t>
            </a:r>
            <a:r>
              <a:rPr sz="950">
                <a:solidFill>
                  <a:srgbClr val="DFE5EF"/>
                </a:solidFill>
              </a:rPr>
              <a:t>Upgrades user account tier and credits wallet immediately upon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Portal: App Shell &amp; Analytical Dashboard (/admin)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Admin App Shell Architecture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Dark Navy Sidebar: </a:t>
            </a:r>
            <a:r>
              <a:rPr sz="950">
                <a:solidFill>
                  <a:srgbClr val="DFE5EF"/>
                </a:solidFill>
              </a:rPr>
              <a:t>Professional Deep Navy (#0A1F44) sidebar with KeralamMatch logo emblem.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Active Crimson Indicator: </a:t>
            </a:r>
            <a:r>
              <a:rPr sz="950">
                <a:solidFill>
                  <a:srgbClr val="DFE5EF"/>
                </a:solidFill>
              </a:rPr>
              <a:t>Highlighted current menu item styled in vibrant crimson red (#C81D45).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Top Search Header: </a:t>
            </a:r>
            <a:r>
              <a:rPr sz="950">
                <a:solidFill>
                  <a:srgbClr val="DFE5EF"/>
                </a:solidFill>
              </a:rPr>
              <a:t>Universal search bar ('Search candidates, reports, payments...'), notifications, avatar.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Role-Based Middleware: </a:t>
            </a:r>
            <a:r>
              <a:rPr sz="950">
                <a:solidFill>
                  <a:srgbClr val="DFE5EF"/>
                </a:solidFill>
              </a:rPr>
              <a:t>Strict session guard checking km_session and admin permissions.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Admin Dashboard KPIs &amp; Charts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4 Top KPI Overview Cards: </a:t>
            </a:r>
            <a:r>
              <a:rPr sz="950">
                <a:solidFill>
                  <a:srgbClr val="DFE5EF"/>
                </a:solidFill>
              </a:rPr>
              <a:t>Total Users (25,430), New Registrations (1,234), Verified Profiles (18,765), Active Premium (2,456).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Registrations Chart Bar: </a:t>
            </a:r>
            <a:r>
              <a:rPr sz="950">
                <a:solidFill>
                  <a:srgbClr val="DFE5EF"/>
                </a:solidFill>
              </a:rPr>
              <a:t>Visual graph tracking daily candidate registration trajectory.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Verification Queue Box: </a:t>
            </a:r>
            <a:r>
              <a:rPr sz="950">
                <a:solidFill>
                  <a:srgbClr val="DFE5EF"/>
                </a:solidFill>
              </a:rPr>
              <a:t>Pending (324), In Review (76), Completed (1,842).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Reports Summary Box: </a:t>
            </a:r>
            <a:r>
              <a:rPr sz="950">
                <a:solidFill>
                  <a:srgbClr val="DFE5EF"/>
                </a:solidFill>
              </a:rPr>
              <a:t>Total Reports (156), Resolved (120).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Portal: User Management, Verification &amp; Moderation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User Management (/admin/users)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Tabbed Filters: </a:t>
            </a:r>
            <a:r>
              <a:rPr sz="950">
                <a:solidFill>
                  <a:srgbClr val="DFE5EF"/>
                </a:solidFill>
              </a:rPr>
              <a:t>All Users, Active, Inactive, Blocked, Premium.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Universal Search: </a:t>
            </a:r>
            <a:r>
              <a:rPr sz="950">
                <a:solidFill>
                  <a:srgbClr val="DFE5EF"/>
                </a:solidFill>
              </a:rPr>
              <a:t>Search by candidate name, phone, or email.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Action Controls: </a:t>
            </a:r>
            <a:r>
              <a:rPr sz="950">
                <a:solidFill>
                  <a:srgbClr val="DFE5EF"/>
                </a:solidFill>
              </a:rPr>
              <a:t>View profile, manual verification, password reset, account ban/unban.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Verification Queue (/admin/verification)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Document Inspection: </a:t>
            </a:r>
            <a:r>
              <a:rPr sz="950">
                <a:solidFill>
                  <a:srgbClr val="DFE5EF"/>
                </a:solidFill>
              </a:rPr>
              <a:t>Inspect candidate selfie liveness &amp; Aadhaar ID uploads.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Approval Workflow: </a:t>
            </a:r>
            <a:r>
              <a:rPr sz="950">
                <a:solidFill>
                  <a:srgbClr val="DFE5EF"/>
                </a:solidFill>
              </a:rPr>
              <a:t>One-click 'Approve' (issues green verified badge) or 'Reject' with reason.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Status Tabs: </a:t>
            </a:r>
            <a:r>
              <a:rPr sz="950">
                <a:solidFill>
                  <a:srgbClr val="DFE5EF"/>
                </a:solidFill>
              </a:rPr>
              <a:t>Pending, In Review, Completed.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Reports &amp; Moderation (/admin/reports)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Flagged Profiles: </a:t>
            </a:r>
            <a:r>
              <a:rPr sz="950">
                <a:solidFill>
                  <a:srgbClr val="DFE5EF"/>
                </a:solidFill>
              </a:rPr>
              <a:t>Inspect reports for harassment, fake profiles, spam.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Investigation Panel: </a:t>
            </a:r>
            <a:r>
              <a:rPr sz="950">
                <a:solidFill>
                  <a:srgbClr val="DFE5EF"/>
                </a:solidFill>
              </a:rPr>
              <a:t>Reporter details, timestamp, reported activity.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Enforcement Actions: </a:t>
            </a:r>
            <a:r>
              <a:rPr sz="950">
                <a:solidFill>
                  <a:srgbClr val="DFE5EF"/>
                </a:solidFill>
              </a:rPr>
              <a:t>Issue warning, dismiss report, or instantly suspend/ban candidate.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Portal: Payments, Content CMS &amp; Audit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Payments &amp; Revenue (/admin/payments)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Financial Metrics: </a:t>
            </a:r>
            <a:r>
              <a:rPr sz="950">
                <a:solidFill>
                  <a:srgbClr val="DFE5EF"/>
                </a:solidFill>
              </a:rPr>
              <a:t>Total Revenue (₹18.76L), This Month (₹2.45L), Refunds, Pending Payouts.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Transaction Ledger: </a:t>
            </a:r>
            <a:r>
              <a:rPr sz="950">
                <a:solidFill>
                  <a:srgbClr val="DFE5EF"/>
                </a:solidFill>
              </a:rPr>
              <a:t>User, plan name, amount, payment ID, status, and date.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Refund Controls: </a:t>
            </a:r>
            <a:r>
              <a:rPr sz="950">
                <a:solidFill>
                  <a:srgbClr val="DFE5EF"/>
                </a:solidFill>
              </a:rPr>
              <a:t>Process authorized refunds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Content CMS (/admin/blog, /faq)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Blog CMS: </a:t>
            </a:r>
            <a:r>
              <a:rPr sz="950">
                <a:solidFill>
                  <a:srgbClr val="DFE5EF"/>
                </a:solidFill>
              </a:rPr>
              <a:t>Create, edit, publish, draft articles with SEO title/description tags.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FAQ Manager: </a:t>
            </a:r>
            <a:r>
              <a:rPr sz="950">
                <a:solidFill>
                  <a:srgbClr val="DFE5EF"/>
                </a:solidFill>
              </a:rPr>
              <a:t>Add/edit customer questions and answers inline.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Category Manager: </a:t>
            </a:r>
            <a:r>
              <a:rPr sz="950">
                <a:solidFill>
                  <a:srgbClr val="DFE5EF"/>
                </a:solidFill>
              </a:rPr>
              <a:t>Manage article topics &amp; guides.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Audit Logs &amp; Settings (/admin/audit)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Immutable Audit Trail: </a:t>
            </a:r>
            <a:r>
              <a:rPr sz="950">
                <a:solidFill>
                  <a:srgbClr val="DFE5EF"/>
                </a:solidFill>
              </a:rPr>
              <a:t>Records every admin action: Admin name, module, action, timestamp, IP.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System Settings: </a:t>
            </a:r>
            <a:r>
              <a:rPr sz="950">
                <a:solidFill>
                  <a:srgbClr val="DFE5EF"/>
                </a:solidFill>
              </a:rPr>
              <a:t>Configure site name, support email, maintenance mode, reveal durations.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Backup Management: </a:t>
            </a:r>
            <a:r>
              <a:rPr sz="950">
                <a:solidFill>
                  <a:srgbClr val="DFE5EF"/>
                </a:solidFill>
              </a:rPr>
              <a:t>Database snapshots &amp; export.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Security, Privacy Shield &amp; Compliance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Data Protection &amp; Privacy Architecture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Field-Level AES-256-GCM Encryption: </a:t>
            </a:r>
            <a:r>
              <a:rPr sz="950">
                <a:solidFill>
                  <a:srgbClr val="DFE5EF"/>
                </a:solidFill>
              </a:rPr>
              <a:t>Candidate phone numbers &amp; emails are encrypted at rest in PostgreSQL.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Admin Privacy Shield: </a:t>
            </a:r>
            <a:r>
              <a:rPr sz="950">
                <a:solidFill>
                  <a:srgbClr val="DFE5EF"/>
                </a:solidFill>
              </a:rPr>
              <a:t>Administrators cannot view un-redacted candidate messages without explicit audit authorization.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Consent-Based Ephemeral Locking: </a:t>
            </a:r>
            <a:r>
              <a:rPr sz="950">
                <a:solidFill>
                  <a:srgbClr val="DFE5EF"/>
                </a:solidFill>
              </a:rPr>
              <a:t>Credentials automatically expire and vanish from memory after 24 hours.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Zero Public Scraping: </a:t>
            </a:r>
            <a:r>
              <a:rPr sz="950">
                <a:solidFill>
                  <a:srgbClr val="DFE5EF"/>
                </a:solidFill>
              </a:rPr>
              <a:t>Phone numbers and sensitive attributes are never rendered to unauthenticated guests.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Infrastructure &amp; Network Hardening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Content Security Policy (CSP): </a:t>
            </a:r>
            <a:r>
              <a:rPr sz="950">
                <a:solidFill>
                  <a:srgbClr val="DFE5EF"/>
                </a:solidFill>
              </a:rPr>
              <a:t>Strict CSP blocking unauthorized scripts, object injection, and framing.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Security Headers: </a:t>
            </a:r>
            <a:r>
              <a:rPr sz="950">
                <a:solidFill>
                  <a:srgbClr val="DFE5EF"/>
                </a:solidFill>
              </a:rPr>
              <a:t>Strict-Transport-Security (HSTS), X-Frame-Options: SAMEORIGIN, nosniff.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Upstash Redis Rate Limiting: </a:t>
            </a:r>
            <a:r>
              <a:rPr sz="950">
                <a:solidFill>
                  <a:srgbClr val="DFE5EF"/>
                </a:solidFill>
              </a:rPr>
              <a:t>Throttles Auth OTP (10 req/min), Contact Requests (5 req/min), Chat (30/min).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Automated SSL/TLS: </a:t>
            </a:r>
            <a:r>
              <a:rPr sz="950">
                <a:solidFill>
                  <a:srgbClr val="DFE5EF"/>
                </a:solidFill>
              </a:rPr>
              <a:t>All network traffic encrypted end-to-end with TLS 1.3.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Technology Roadmap &amp; Strategic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Mobile &amp; Identity Innovations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Native iOS &amp; Android Apps: </a:t>
            </a:r>
            <a:r>
              <a:rPr sz="950">
                <a:solidFill>
                  <a:srgbClr val="DFE5EF"/>
                </a:solidFill>
              </a:rPr>
              <a:t>React Native / Expo apps with FaceID/Fingerprint biometrics and native camera verification.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DigiLocker Govt ID API: </a:t>
            </a:r>
            <a:r>
              <a:rPr sz="950">
                <a:solidFill>
                  <a:srgbClr val="DFE5EF"/>
                </a:solidFill>
              </a:rPr>
              <a:t>SurePass / Cashfree API for 5-second automated Aadhaar, Passport, and PAN verification.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WhatsApp Business API Alerts: </a:t>
            </a:r>
            <a:r>
              <a:rPr sz="950">
                <a:solidFill>
                  <a:srgbClr val="DFE5EF"/>
                </a:solidFill>
              </a:rPr>
              <a:t>Meta WhatsApp notifications for contact requests, acceptances, and 24h timer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AI &amp; Virtual Matchmaking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AI Vector Matchmaker: </a:t>
            </a:r>
            <a:r>
              <a:rPr sz="950">
                <a:solidFill>
                  <a:srgbClr val="DFE5EF"/>
                </a:solidFill>
              </a:rPr>
              <a:t>OpenAI Embeddings + Pinecone vector database for semantic matching and Porutham astro scoring.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In-App Virtual Video Dates: </a:t>
            </a:r>
            <a:r>
              <a:rPr sz="950">
                <a:solidFill>
                  <a:srgbClr val="DFE5EF"/>
                </a:solidFill>
              </a:rPr>
              <a:t>Agora.io WebRTC SDK for encrypted 1-on-1 video dating without sharing phone numbers.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Firebase Cloud Push (FCM): </a:t>
            </a:r>
            <a:r>
              <a:rPr sz="950">
                <a:solidFill>
                  <a:srgbClr val="DFE5EF"/>
                </a:solidFill>
              </a:rPr>
              <a:t>Web push and mobile push notifications for instant user engagement.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KERALAMMATCH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Launch Readiness: 100% Production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Verification &amp; Compilation Scorecard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TypeScript Strict Check: </a:t>
            </a:r>
            <a:r>
              <a:rPr sz="950">
                <a:solidFill>
                  <a:srgbClr val="DFE5EF"/>
                </a:solidFill>
              </a:rPr>
              <a:t>npx tsc --noEmit — 0 errors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ESLint Audit: </a:t>
            </a:r>
            <a:r>
              <a:rPr sz="950">
                <a:solidFill>
                  <a:srgbClr val="DFE5EF"/>
                </a:solidFill>
              </a:rPr>
              <a:t>npm run lint — 0 errors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Unit Test Suite: </a:t>
            </a:r>
            <a:r>
              <a:rPr sz="950">
                <a:solidFill>
                  <a:srgbClr val="DFE5EF"/>
                </a:solidFill>
              </a:rPr>
              <a:t>24/24 Unit Tests Passed (100% Success Rate)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Next.js 16 Production Build: </a:t>
            </a:r>
            <a:r>
              <a:rPr sz="950">
                <a:solidFill>
                  <a:srgbClr val="DFE5EF"/>
                </a:solidFill>
              </a:rPr>
              <a:t>53/53 Routes Compiled &amp; Statically Optimized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Pre-Production QA Suite: </a:t>
            </a:r>
            <a:r>
              <a:rPr sz="950">
                <a:solidFill>
                  <a:srgbClr val="DFE5EF"/>
                </a:solidFill>
              </a:rPr>
              <a:t>Complete 25-Section QA Checklist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2954"/>
          </a:solidFill>
          <a:ln w="19050">
            <a:solidFill>
              <a:srgbClr val="C81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</a:defRPr>
            </a:pPr>
            <a:r>
              <a:t>Ready for Market Deployment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Target Market: </a:t>
            </a:r>
            <a:r>
              <a:rPr sz="950">
                <a:solidFill>
                  <a:srgbClr val="DFE5EF"/>
                </a:solidFill>
              </a:rPr>
              <a:t>Global Malayali Community in Kerala, GCC (UAE, Saudi, Qatar), USA, UK, Singapore.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Primary USP: </a:t>
            </a:r>
            <a:r>
              <a:rPr sz="950">
                <a:solidFill>
                  <a:srgbClr val="DFE5EF"/>
                </a:solidFill>
              </a:rPr>
              <a:t>The most trusted, privacy-first, verified matrimonial experience in Kerala.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Immediate Next Step: </a:t>
            </a:r>
            <a:r>
              <a:rPr sz="950">
                <a:solidFill>
                  <a:srgbClr val="DFE5EF"/>
                </a:solidFill>
              </a:rPr>
              <a:t>Deploy to Vercel (sin1 Edge) + Neon PostgreSQL and execute controlled soft launch!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FFFF"/>
                </a:solidFill>
              </a:rPr>
              <a:t>Status: </a:t>
            </a:r>
            <a:r>
              <a:rPr sz="950">
                <a:solidFill>
                  <a:srgbClr val="DFE5EF"/>
                </a:solidFill>
              </a:rPr>
              <a:t>🟢 100% READY FOR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