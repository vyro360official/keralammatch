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1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FFFFFF"/>
                </a:solidFill>
              </a:defRPr>
            </a:pPr>
            <a:r>
              <a:t>KeralamMatch</a:t>
            </a:r>
          </a:p>
          <a:p>
            <a:pPr>
              <a:defRPr sz="2200" b="1">
                <a:solidFill>
                  <a:srgbClr val="D4AF37"/>
                </a:solidFill>
              </a:defRPr>
            </a:pPr>
            <a:r>
              <a:t>Privacy-First Matrimony for Kerala &amp; the Global Malayali Community</a:t>
            </a:r>
          </a:p>
          <a:p>
            <a:pPr>
              <a:defRPr sz="1400">
                <a:solidFill>
                  <a:srgbClr val="CFD8DC"/>
                </a:solidFill>
              </a:defRPr>
            </a:pPr>
            <a:r>
              <a:t>Master Software Architecture &amp; End-to-End Product Presentation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840480"/>
            <a:ext cx="2468880" cy="1645920"/>
          </a:xfrm>
          <a:prstGeom prst="roundRect">
            <a:avLst/>
          </a:prstGeom>
          <a:solidFill>
            <a:srgbClr val="0F224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977639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Consent-Based Ephemeral Reveal</a:t>
            </a:r>
          </a:p>
          <a:p>
            <a:pPr>
              <a:defRPr sz="950">
                <a:solidFill>
                  <a:srgbClr val="B0BEC5"/>
                </a:solidFill>
              </a:defRPr>
            </a:pPr>
            <a:r>
              <a:t>24-Hour Time-Bound Credential Access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3840480"/>
            <a:ext cx="2468880" cy="1645920"/>
          </a:xfrm>
          <a:prstGeom prst="roundRect">
            <a:avLst/>
          </a:prstGeom>
          <a:solidFill>
            <a:srgbClr val="0F224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3977639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Multi-Layer Trust System</a:t>
            </a:r>
          </a:p>
          <a:p>
            <a:pPr>
              <a:defRPr sz="950">
                <a:solidFill>
                  <a:srgbClr val="B0BEC5"/>
                </a:solidFill>
              </a:defRPr>
            </a:pPr>
            <a:r>
              <a:t>Mobile, Email, Selfie Liveness &amp; Govt 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840480"/>
            <a:ext cx="2468880" cy="1645920"/>
          </a:xfrm>
          <a:prstGeom prst="roundRect">
            <a:avLst/>
          </a:prstGeom>
          <a:solidFill>
            <a:srgbClr val="0F224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3977639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AI Compatibility Engine</a:t>
            </a:r>
          </a:p>
          <a:p>
            <a:pPr>
              <a:defRPr sz="950">
                <a:solidFill>
                  <a:srgbClr val="B0BEC5"/>
                </a:solidFill>
              </a:defRPr>
            </a:pPr>
            <a:r>
              <a:t>7-Dimension Algorithmic Scoring + Smart 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32520" y="3840480"/>
            <a:ext cx="2468880" cy="1645920"/>
          </a:xfrm>
          <a:prstGeom prst="roundRect">
            <a:avLst/>
          </a:prstGeom>
          <a:solidFill>
            <a:srgbClr val="0F224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0" y="3977639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Clean Architecture Stack</a:t>
            </a:r>
          </a:p>
          <a:p>
            <a:pPr>
              <a:defRPr sz="950">
                <a:solidFill>
                  <a:srgbClr val="B0BEC5"/>
                </a:solidFill>
              </a:defRPr>
            </a:pPr>
            <a:r>
              <a:t>Next.js 16 · Prisma · PostgreSQL · Razorpay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0350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36366"/>
                </a:solidFill>
              </a:defRPr>
            </a:pPr>
            <a:r>
              <a:t>Master Software &amp; Product Documentation — Final Canonical Baseline v2.2 | Production Soft-Launch Ready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81D45"/>
                </a:solidFill>
              </a:defRPr>
            </a:pPr>
            <a:r>
              <a:t>PRODUCT VISION &amp; CORE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1F44"/>
                </a:solidFill>
              </a:defRPr>
            </a:pPr>
            <a:r>
              <a:t>One Trusted Journey from Discovery to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8655" cy="914400"/>
          </a:xfrm>
          <a:prstGeom prst="roundRect">
            <a:avLst/>
          </a:prstGeom>
          <a:solidFill>
            <a:srgbClr val="0A1F44"/>
          </a:solidFill>
          <a:ln w="12700">
            <a:solidFill>
              <a:srgbClr val="C81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D4AF37"/>
                </a:solidFill>
              </a:rPr>
              <a:t>Discover  ➔  Verify  ➔  Match  ➔  Consent  ➔  Communicate  ➔  Protect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23160"/>
            <a:ext cx="3456432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87752"/>
            <a:ext cx="309067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81D45"/>
                </a:solidFill>
              </a:defRPr>
            </a:pPr>
            <a:r>
              <a:t>🔒 Privacy First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t>Candidate phone &amp; email are never publicly exposed. Contact details are encrypted with AES-256-GCM and unlocked strictly via mutual consent.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2423160"/>
            <a:ext cx="3456432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2587752"/>
            <a:ext cx="309067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81D45"/>
                </a:solidFill>
              </a:defRPr>
            </a:pPr>
            <a:r>
              <a:t>🛡️ Trust Built-In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t>Multi-stage verification combining SMS OTP, email validation, Cloudinary selfie liveness, and Aadhaar ID queue review.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2423160"/>
            <a:ext cx="3456432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93023" y="2587752"/>
            <a:ext cx="309067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81D45"/>
                </a:solidFill>
              </a:defRPr>
            </a:pPr>
            <a:r>
              <a:t>🧠 AI-Assisted Discovery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t>7-dimension weighted algorithmic compatibility scoring (%) paired with conversational natural language Smart Search.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34840"/>
            <a:ext cx="3456432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599431"/>
            <a:ext cx="309067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81D45"/>
                </a:solidFill>
              </a:defRPr>
            </a:pPr>
            <a:r>
              <a:t>⏱️ Controlled Communication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t>24-hour time-bound ephemeral contact window with automatic server-side re-locking upon expiration.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4434840"/>
            <a:ext cx="3456432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3712" y="4599431"/>
            <a:ext cx="309067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81D45"/>
                </a:solidFill>
              </a:defRPr>
            </a:pPr>
            <a:r>
              <a:t>💬 Encrypted In-App Chat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t>Private, participant-authorized in-app messaging with read receipts and strict admin privacy shields.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0144" y="4434840"/>
            <a:ext cx="3456432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93023" y="4599431"/>
            <a:ext cx="309067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81D45"/>
                </a:solidFill>
              </a:defRPr>
            </a:pPr>
            <a:r>
              <a:t>👨‍💼 Operational Governance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t>Dedicated admin portal for verification queue approvals, abuse moderation, financial ledger, and immutable audit logs.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PLATFORM ARCHITECTURE &amp; MODULAR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KeralamMatch — End-to-End User &amp; Admin Journey</a:t>
            </a:r>
          </a:p>
        </p:txBody>
      </p:sp>
      <p:pic>
        <p:nvPicPr>
          <p:cNvPr id="5" name="Picture 4" descr="KeralamMatch_User_Admin_Journey_Flowcha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10728655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98932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Canonical Flow: 1. Landing/SEO ➔ 2. Auth &amp; OTP ➔ 3. 10-Step Onboarding ➔ 4. AI Matching ➔ 5. 24h Reveal &amp; Chat ➔ 6. Razorpay ➔ 7. Admin Moderation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81D45"/>
                </a:solidFill>
              </a:defRPr>
            </a:pPr>
            <a:r>
              <a:t>UX FLOW &amp; LIFECYCLE TRANSITIONS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1F44"/>
                </a:solidFill>
              </a:defRPr>
            </a:pPr>
            <a:r>
              <a:t>Customer Journey: New vs. Returning Members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578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4892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81D45"/>
                </a:solidFill>
              </a:defRPr>
            </a:pPr>
            <a:r>
              <a:t>🆕 New User Journey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t>• 1. Discovery: Visitor arrives via Landing Page (/), District SEO, or Blog.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t>• 2. Authentication: Enters Indian Mobile (+91) ➔ Verifies SMS OTP ➔ Sets km_session.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t>• 3. 10-Step Onboarding: Guided profile creation at /join (Demographics, Career, Family).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t>• 4. Media Upload (Step 9): Uploads gallery photos to Cloudinary CDN &amp; voice intro.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t>• 5. Verification (Step 10): Captures selfie liveness &amp; optional Aadhaar ID submission.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t>• 6. Dashboard Entry: 100% completion unlocks personalized recommendations on /dashboard.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280160"/>
            <a:ext cx="52578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417320"/>
            <a:ext cx="4892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A1F44"/>
                </a:solidFill>
              </a:defRPr>
            </a:pPr>
            <a:r>
              <a:t>👤 Returning / Registered User Journey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t>• 1. Secure Login: Signs in with OTP or Google OAuth at /auth ➔ Validates active session.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t>• 2. Profile Status Check: Complete profile ➔ Skips onboarding ➔ Direct to Dashboard.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t>• 3. Incomplete Resume: Incomplete profile ➔ Resumes exactly from last saved step.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t>• 4. Candidate Discovery: Browses matches at /find using demographic filters &amp; AI search.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t>• 5. Interaction: Shortlists profiles, sends interest, or triggers contact reveal requests.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t>• 6. 24h Reveal &amp; Chat: Consent unlock activates 24h countdown &amp; encrypted in-app chat.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81D45"/>
                </a:solidFill>
              </a:defRPr>
            </a:pPr>
            <a:r>
              <a:t>AUTHENTICATION &amp; 10-STEP WIZARD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1F44"/>
                </a:solidFill>
              </a:defRPr>
            </a:pPr>
            <a:r>
              <a:t>From Secure Login to a Complete Profile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329184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1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29260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81D45"/>
                </a:solidFill>
              </a:defRPr>
            </a:pPr>
            <a:r>
              <a:t>📱 Authentication Gate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t>✔ Firebase SMS Phone OTP (+91)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t>✔ Google OAuth 2.0 Provider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t>✔ Encrypted HTTP-only Cookie (`km_session`)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t>✔ Sandbox OTP Fallback (`123456`) disabled in production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t>✔ Role-based route &amp; API session guards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280160"/>
            <a:ext cx="7205472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417320"/>
            <a:ext cx="68397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A1F44"/>
                </a:solidFill>
              </a:defRPr>
            </a:pPr>
            <a:r>
              <a:t>📝 Progressive 10-Step Onboarding Wizard (/join)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920240"/>
            <a:ext cx="3246120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79" y="1993392"/>
            <a:ext cx="3063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A1F44"/>
                </a:solidFill>
              </a:defRPr>
            </a:pPr>
            <a:r>
              <a:t>Step 1: Basic Info</a:t>
            </a:r>
          </a:p>
          <a:p>
            <a:pPr>
              <a:defRPr sz="850">
                <a:solidFill>
                  <a:srgbClr val="636366"/>
                </a:solidFill>
              </a:defRPr>
            </a:pPr>
            <a:r>
              <a:t>Name, DOB, gender, profile owner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920240"/>
            <a:ext cx="3246120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1993392"/>
            <a:ext cx="3063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A1F44"/>
                </a:solidFill>
              </a:defRPr>
            </a:pPr>
            <a:r>
              <a:t>Step 2: Physical Traits</a:t>
            </a:r>
          </a:p>
          <a:p>
            <a:pPr>
              <a:defRPr sz="850">
                <a:solidFill>
                  <a:srgbClr val="636366"/>
                </a:solidFill>
              </a:defRPr>
            </a:pPr>
            <a:r>
              <a:t>Height (cm), complexion, body type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2788920"/>
            <a:ext cx="3246120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79" y="2862072"/>
            <a:ext cx="3063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A1F44"/>
                </a:solidFill>
              </a:defRPr>
            </a:pPr>
            <a:r>
              <a:t>Step 3: Religion &amp; Caste</a:t>
            </a:r>
          </a:p>
          <a:p>
            <a:pPr>
              <a:defRPr sz="850">
                <a:solidFill>
                  <a:srgbClr val="636366"/>
                </a:solidFill>
              </a:defRPr>
            </a:pPr>
            <a:r>
              <a:t>Religion, caste, star, horoscope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2788920"/>
            <a:ext cx="3246120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9560" y="2862072"/>
            <a:ext cx="3063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A1F44"/>
                </a:solidFill>
              </a:defRPr>
            </a:pPr>
            <a:r>
              <a:t>Step 4: Education &amp; Career</a:t>
            </a:r>
          </a:p>
          <a:p>
            <a:pPr>
              <a:defRPr sz="850">
                <a:solidFill>
                  <a:srgbClr val="636366"/>
                </a:solidFill>
              </a:defRPr>
            </a:pPr>
            <a:r>
              <a:t>Degree, university, profession, income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657600"/>
            <a:ext cx="3246120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79" y="3730752"/>
            <a:ext cx="3063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A1F44"/>
                </a:solidFill>
              </a:defRPr>
            </a:pPr>
            <a:r>
              <a:t>Step 5: Location Details</a:t>
            </a:r>
          </a:p>
          <a:p>
            <a:pPr>
              <a:defRPr sz="850">
                <a:solidFill>
                  <a:srgbClr val="636366"/>
                </a:solidFill>
              </a:defRPr>
            </a:pPr>
            <a:r>
              <a:t>State, district, current city, native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18120" y="3657600"/>
            <a:ext cx="3246120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09560" y="3730752"/>
            <a:ext cx="3063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A1F44"/>
                </a:solidFill>
              </a:defRPr>
            </a:pPr>
            <a:r>
              <a:t>Step 6: Family Background</a:t>
            </a:r>
          </a:p>
          <a:p>
            <a:pPr>
              <a:defRPr sz="850">
                <a:solidFill>
                  <a:srgbClr val="636366"/>
                </a:solidFill>
              </a:defRPr>
            </a:pPr>
            <a:r>
              <a:t>Joint/Nuclear, status, parents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4526279"/>
            <a:ext cx="3246120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79" y="4599431"/>
            <a:ext cx="3063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A1F44"/>
                </a:solidFill>
              </a:defRPr>
            </a:pPr>
            <a:r>
              <a:t>Step 7: Lifestyle Habits</a:t>
            </a:r>
          </a:p>
          <a:p>
            <a:pPr>
              <a:defRPr sz="850">
                <a:solidFill>
                  <a:srgbClr val="636366"/>
                </a:solidFill>
              </a:defRPr>
            </a:pPr>
            <a:r>
              <a:t>Dietary preferences, habits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18120" y="4526279"/>
            <a:ext cx="3246120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09560" y="4599431"/>
            <a:ext cx="3063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A1F44"/>
                </a:solidFill>
              </a:defRPr>
            </a:pPr>
            <a:r>
              <a:t>Step 8: Partner Preference</a:t>
            </a:r>
          </a:p>
          <a:p>
            <a:pPr>
              <a:defRPr sz="850">
                <a:solidFill>
                  <a:srgbClr val="636366"/>
                </a:solidFill>
              </a:defRPr>
            </a:pPr>
            <a:r>
              <a:t>Age, height, religion, district filters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34840" y="5394960"/>
            <a:ext cx="3246120" cy="749808"/>
          </a:xfrm>
          <a:prstGeom prst="roundRect">
            <a:avLst/>
          </a:prstGeom>
          <a:solidFill>
            <a:srgbClr val="FDF2F4"/>
          </a:solidFill>
          <a:ln w="12700">
            <a:solidFill>
              <a:srgbClr val="C81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26279" y="5468112"/>
            <a:ext cx="3063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C81D45"/>
                </a:solidFill>
              </a:defRPr>
            </a:pPr>
            <a:r>
              <a:t>Step 9: Media Upload ⭐</a:t>
            </a:r>
          </a:p>
          <a:p>
            <a:pPr>
              <a:defRPr sz="850">
                <a:solidFill>
                  <a:srgbClr val="636366"/>
                </a:solidFill>
              </a:defRPr>
            </a:pPr>
            <a:r>
              <a:t>Cloudinary photo dropzone &amp; voice intro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18120" y="5394960"/>
            <a:ext cx="3246120" cy="749808"/>
          </a:xfrm>
          <a:prstGeom prst="roundRect">
            <a:avLst/>
          </a:prstGeom>
          <a:solidFill>
            <a:srgbClr val="FDF2F4"/>
          </a:solidFill>
          <a:ln w="12700">
            <a:solidFill>
              <a:srgbClr val="C81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9560" y="5468112"/>
            <a:ext cx="3063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C81D45"/>
                </a:solidFill>
              </a:defRPr>
            </a:pPr>
            <a:r>
              <a:t>Step 10: Verification ⭐</a:t>
            </a:r>
          </a:p>
          <a:p>
            <a:pPr>
              <a:defRPr sz="850">
                <a:solidFill>
                  <a:srgbClr val="636366"/>
                </a:solidFill>
              </a:defRPr>
            </a:pPr>
            <a:r>
              <a:t>Selfie liveness capture &amp; ID submit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81D45"/>
                </a:solidFill>
              </a:defRPr>
            </a:pPr>
            <a:r>
              <a:t>ALGORITHMIC DISCOVERY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1F44"/>
                </a:solidFill>
              </a:defRPr>
            </a:pPr>
            <a:r>
              <a:t>7-Dimension Compatibility Matching + Smart Search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46304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371600"/>
            <a:ext cx="131673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81D45"/>
                </a:solidFill>
              </a:defRPr>
            </a:pPr>
            <a:r>
              <a:t>1. Religion &amp; Caste</a:t>
            </a:r>
          </a:p>
          <a:p>
            <a:pPr>
              <a:defRPr sz="1200" b="1">
                <a:solidFill>
                  <a:srgbClr val="137333"/>
                </a:solidFill>
              </a:defRPr>
            </a:pPr>
            <a:r>
              <a:t>100 pts</a:t>
            </a:r>
          </a:p>
          <a:p>
            <a:pPr>
              <a:defRPr sz="800">
                <a:solidFill>
                  <a:srgbClr val="07152E"/>
                </a:solidFill>
              </a:defRPr>
            </a:pPr>
            <a:r>
              <a:t>90 pts for same religion; +10 bonus for same caste/sub-caste.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67712" y="1280160"/>
            <a:ext cx="146304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40864" y="1371600"/>
            <a:ext cx="131673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81D45"/>
                </a:solidFill>
              </a:defRPr>
            </a:pPr>
            <a:r>
              <a:t>2. Education &amp; Career</a:t>
            </a:r>
          </a:p>
          <a:p>
            <a:pPr>
              <a:defRPr sz="1200" b="1">
                <a:solidFill>
                  <a:srgbClr val="137333"/>
                </a:solidFill>
              </a:defRPr>
            </a:pPr>
            <a:r>
              <a:t>100 pts</a:t>
            </a:r>
          </a:p>
          <a:p>
            <a:pPr>
              <a:defRPr sz="800">
                <a:solidFill>
                  <a:srgbClr val="07152E"/>
                </a:solidFill>
              </a:defRPr>
            </a:pPr>
            <a:r>
              <a:t>Compares degree levels &amp; occupational alignment.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03904" y="1280160"/>
            <a:ext cx="146304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77056" y="1371600"/>
            <a:ext cx="131673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81D45"/>
                </a:solidFill>
              </a:defRPr>
            </a:pPr>
            <a:r>
              <a:t>3. Lifestyle Alignment</a:t>
            </a:r>
          </a:p>
          <a:p>
            <a:pPr>
              <a:defRPr sz="1200" b="1">
                <a:solidFill>
                  <a:srgbClr val="137333"/>
                </a:solidFill>
              </a:defRPr>
            </a:pPr>
            <a:r>
              <a:t>100 pts</a:t>
            </a:r>
          </a:p>
          <a:p>
            <a:pPr>
              <a:defRPr sz="800">
                <a:solidFill>
                  <a:srgbClr val="07152E"/>
                </a:solidFill>
              </a:defRPr>
            </a:pPr>
            <a:r>
              <a:t>Matches dietary preferences (Veg/Non-Veg) &amp; travel cues.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0096" y="1280160"/>
            <a:ext cx="146304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13248" y="1371600"/>
            <a:ext cx="131673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81D45"/>
                </a:solidFill>
              </a:defRPr>
            </a:pPr>
            <a:r>
              <a:t>4. Location Proximity</a:t>
            </a:r>
          </a:p>
          <a:p>
            <a:pPr>
              <a:defRPr sz="1200" b="1">
                <a:solidFill>
                  <a:srgbClr val="137333"/>
                </a:solidFill>
              </a:defRPr>
            </a:pPr>
            <a:r>
              <a:t>100 pts</a:t>
            </a:r>
          </a:p>
          <a:p>
            <a:pPr>
              <a:defRPr sz="800">
                <a:solidFill>
                  <a:srgbClr val="07152E"/>
                </a:solidFill>
              </a:defRPr>
            </a:pPr>
            <a:r>
              <a:t>Same district = 100 pts; same state = 75 pts; outside = 50 pts.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76288" y="1280160"/>
            <a:ext cx="146304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1371600"/>
            <a:ext cx="131673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81D45"/>
                </a:solidFill>
              </a:defRPr>
            </a:pPr>
            <a:r>
              <a:t>5. Family &amp; Marital Values</a:t>
            </a:r>
          </a:p>
          <a:p>
            <a:pPr>
              <a:defRPr sz="1200" b="1">
                <a:solidFill>
                  <a:srgbClr val="137333"/>
                </a:solidFill>
              </a:defRPr>
            </a:pPr>
            <a:r>
              <a:t>100 pts</a:t>
            </a:r>
          </a:p>
          <a:p>
            <a:pPr>
              <a:defRPr sz="800">
                <a:solidFill>
                  <a:srgbClr val="07152E"/>
                </a:solidFill>
              </a:defRPr>
            </a:pPr>
            <a:r>
              <a:t>Evaluates marital status background &amp; family traditions.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1280160"/>
            <a:ext cx="146304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85632" y="1371600"/>
            <a:ext cx="131673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81D45"/>
                </a:solidFill>
              </a:defRPr>
            </a:pPr>
            <a:r>
              <a:t>6. Career Goals &amp; Migration</a:t>
            </a:r>
          </a:p>
          <a:p>
            <a:pPr>
              <a:defRPr sz="1200" b="1">
                <a:solidFill>
                  <a:srgbClr val="137333"/>
                </a:solidFill>
              </a:defRPr>
            </a:pPr>
            <a:r>
              <a:t>100 pts</a:t>
            </a:r>
          </a:p>
          <a:p>
            <a:pPr>
              <a:defRPr sz="800">
                <a:solidFill>
                  <a:srgbClr val="07152E"/>
                </a:solidFill>
              </a:defRPr>
            </a:pPr>
            <a:r>
              <a:t>Identifies mutual plans for GCC/abroad relocation.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48672" y="1280160"/>
            <a:ext cx="146304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21824" y="1371600"/>
            <a:ext cx="131673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81D45"/>
                </a:solidFill>
              </a:defRPr>
            </a:pPr>
            <a:r>
              <a:t>7. Communication Style</a:t>
            </a:r>
          </a:p>
          <a:p>
            <a:pPr>
              <a:defRPr sz="1200" b="1">
                <a:solidFill>
                  <a:srgbClr val="137333"/>
                </a:solidFill>
              </a:defRPr>
            </a:pPr>
            <a:r>
              <a:t>100 pts</a:t>
            </a:r>
          </a:p>
          <a:p>
            <a:pPr>
              <a:defRPr sz="800">
                <a:solidFill>
                  <a:srgbClr val="07152E"/>
                </a:solidFill>
              </a:defRPr>
            </a:pPr>
            <a:r>
              <a:t>Calculates base interpersonal communication compatibility.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120640"/>
            <a:ext cx="10728655" cy="1188720"/>
          </a:xfrm>
          <a:prstGeom prst="roundRect">
            <a:avLst/>
          </a:prstGeom>
          <a:solidFill>
            <a:srgbClr val="0A1F44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212080"/>
            <a:ext cx="10362895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4AF37"/>
                </a:solidFill>
              </a:defRPr>
            </a:pPr>
            <a:r>
              <a:t>🧠 Conversational Smart Search (/find)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Natural language queries (e.g. 'Software engineer in Ernakulam preferring vegetarian diet') are automatically tokenized into structured database filter criteria in real-time.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81D45"/>
                </a:solidFill>
              </a:defRPr>
            </a:pPr>
            <a:r>
              <a:t>MULTI-STAGE VERIFICATION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1F44"/>
                </a:solidFill>
              </a:defRPr>
            </a:pPr>
            <a:r>
              <a:t>Trust Built Into Every Profile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4630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7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371600"/>
            <a:ext cx="131673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37333"/>
                </a:solidFill>
              </a:defRPr>
            </a:pPr>
            <a:r>
              <a:t>📱 Mobile</a:t>
            </a:r>
          </a:p>
          <a:p>
            <a:pPr>
              <a:defRPr sz="900">
                <a:solidFill>
                  <a:srgbClr val="0A1F44"/>
                </a:solidFill>
              </a:defRPr>
            </a:pPr>
            <a:r>
              <a:t>Firebase OTP</a:t>
            </a:r>
          </a:p>
          <a:p>
            <a:pPr>
              <a:defRPr sz="800">
                <a:solidFill>
                  <a:srgbClr val="636366"/>
                </a:solidFill>
              </a:defRPr>
            </a:pPr>
            <a:r>
              <a:t>Confirmed owner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67712" y="1280160"/>
            <a:ext cx="14630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7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40864" y="1371600"/>
            <a:ext cx="131673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37333"/>
                </a:solidFill>
              </a:defRPr>
            </a:pPr>
            <a:r>
              <a:t>✉️ Email</a:t>
            </a:r>
          </a:p>
          <a:p>
            <a:pPr>
              <a:defRPr sz="900">
                <a:solidFill>
                  <a:srgbClr val="0A1F44"/>
                </a:solidFill>
              </a:defRPr>
            </a:pPr>
            <a:r>
              <a:t>Validation Link</a:t>
            </a:r>
          </a:p>
          <a:p>
            <a:pPr>
              <a:defRPr sz="800">
                <a:solidFill>
                  <a:srgbClr val="636366"/>
                </a:solidFill>
              </a:defRPr>
            </a:pPr>
            <a:r>
              <a:t>Active email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03904" y="1280160"/>
            <a:ext cx="14630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7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77056" y="1371600"/>
            <a:ext cx="131673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37333"/>
                </a:solidFill>
              </a:defRPr>
            </a:pPr>
            <a:r>
              <a:t>🤳 Selfie</a:t>
            </a:r>
          </a:p>
          <a:p>
            <a:pPr>
              <a:defRPr sz="900">
                <a:solidFill>
                  <a:srgbClr val="0A1F44"/>
                </a:solidFill>
              </a:defRPr>
            </a:pPr>
            <a:r>
              <a:t>Facial Liveness</a:t>
            </a:r>
          </a:p>
          <a:p>
            <a:pPr>
              <a:defRPr sz="800">
                <a:solidFill>
                  <a:srgbClr val="636366"/>
                </a:solidFill>
              </a:defRPr>
            </a:pPr>
            <a:r>
              <a:t>Real individual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0096" y="1280160"/>
            <a:ext cx="14630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7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13248" y="1371600"/>
            <a:ext cx="131673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37333"/>
                </a:solidFill>
              </a:defRPr>
            </a:pPr>
            <a:r>
              <a:t>🪪 Identity</a:t>
            </a:r>
          </a:p>
          <a:p>
            <a:pPr>
              <a:defRPr sz="900">
                <a:solidFill>
                  <a:srgbClr val="0A1F44"/>
                </a:solidFill>
              </a:defRPr>
            </a:pPr>
            <a:r>
              <a:t>Aadhaar / ID</a:t>
            </a:r>
          </a:p>
          <a:p>
            <a:pPr>
              <a:defRPr sz="800">
                <a:solidFill>
                  <a:srgbClr val="636366"/>
                </a:solidFill>
              </a:defRPr>
            </a:pPr>
            <a:r>
              <a:t>Govt verified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76288" y="1280160"/>
            <a:ext cx="14630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7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1371600"/>
            <a:ext cx="131673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37333"/>
                </a:solidFill>
              </a:defRPr>
            </a:pPr>
            <a:r>
              <a:t>💼 Career</a:t>
            </a:r>
          </a:p>
          <a:p>
            <a:pPr>
              <a:defRPr sz="900">
                <a:solidFill>
                  <a:srgbClr val="0A1F44"/>
                </a:solidFill>
              </a:defRPr>
            </a:pPr>
            <a:r>
              <a:t>Work Email / ID</a:t>
            </a:r>
          </a:p>
          <a:p>
            <a:pPr>
              <a:defRPr sz="800">
                <a:solidFill>
                  <a:srgbClr val="636366"/>
                </a:solidFill>
              </a:defRPr>
            </a:pPr>
            <a:r>
              <a:t>Employment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1280160"/>
            <a:ext cx="14630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7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85632" y="1371600"/>
            <a:ext cx="131673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37333"/>
                </a:solidFill>
              </a:defRPr>
            </a:pPr>
            <a:r>
              <a:t>💰 Income</a:t>
            </a:r>
          </a:p>
          <a:p>
            <a:pPr>
              <a:defRPr sz="900">
                <a:solidFill>
                  <a:srgbClr val="0A1F44"/>
                </a:solidFill>
              </a:defRPr>
            </a:pPr>
            <a:r>
              <a:t>Tax / Salary</a:t>
            </a:r>
          </a:p>
          <a:p>
            <a:pPr>
              <a:defRPr sz="800">
                <a:solidFill>
                  <a:srgbClr val="636366"/>
                </a:solidFill>
              </a:defRPr>
            </a:pPr>
            <a:r>
              <a:t>Income verified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48672" y="1280160"/>
            <a:ext cx="14630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7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21824" y="1371600"/>
            <a:ext cx="131673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37333"/>
                </a:solidFill>
              </a:defRPr>
            </a:pPr>
            <a:r>
              <a:t>🏠 Address</a:t>
            </a:r>
          </a:p>
          <a:p>
            <a:pPr>
              <a:defRPr sz="900">
                <a:solidFill>
                  <a:srgbClr val="0A1F44"/>
                </a:solidFill>
              </a:defRPr>
            </a:pPr>
            <a:r>
              <a:t>Utility Evidence</a:t>
            </a:r>
          </a:p>
          <a:p>
            <a:pPr>
              <a:defRPr sz="800">
                <a:solidFill>
                  <a:srgbClr val="636366"/>
                </a:solidFill>
              </a:defRPr>
            </a:pPr>
            <a:r>
              <a:t>Residency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474720"/>
            <a:ext cx="10728655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611880"/>
            <a:ext cx="10362895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A1F44"/>
                </a:solidFill>
              </a:defRPr>
            </a:pPr>
            <a:r>
              <a:t>🔄 Verification Queue &amp; Operational Workflow</a:t>
            </a:r>
          </a:p>
          <a:p>
            <a:pPr>
              <a:defRPr sz="1000">
                <a:solidFill>
                  <a:srgbClr val="07152E"/>
                </a:solidFill>
              </a:defRPr>
            </a:pPr>
            <a:r>
              <a:t>• 1. Submission: Candidate uploads selfie liveness &amp; Aadhaar ID in Onboarding Step 10.</a:t>
            </a:r>
          </a:p>
          <a:p>
            <a:pPr>
              <a:defRPr sz="1000">
                <a:solidFill>
                  <a:srgbClr val="07152E"/>
                </a:solidFill>
              </a:defRPr>
            </a:pPr>
            <a:r>
              <a:t>• 2. Queue Ingestion: Profile enters Admin Verification Queue (/admin/verification) with status = PENDING.</a:t>
            </a:r>
          </a:p>
          <a:p>
            <a:pPr>
              <a:defRPr sz="1000">
                <a:solidFill>
                  <a:srgbClr val="07152E"/>
                </a:solidFill>
              </a:defRPr>
            </a:pPr>
            <a:r>
              <a:t>• 3. Admin Inspection: Compliance officer verifies selfie likeness against submitted identity proof.</a:t>
            </a:r>
          </a:p>
          <a:p>
            <a:pPr>
              <a:defRPr sz="1000">
                <a:solidFill>
                  <a:srgbClr val="07152E"/>
                </a:solidFill>
              </a:defRPr>
            </a:pPr>
            <a:r>
              <a:t>• 4. Decision: One-click Approve generates a green verified trust badge; Reject sends actionable re-upload prompts.</a:t>
            </a:r>
          </a:p>
          <a:p>
            <a:pPr>
              <a:defRPr sz="1000">
                <a:solidFill>
                  <a:srgbClr val="07152E"/>
                </a:solidFill>
              </a:defRPr>
            </a:pPr>
            <a:r>
              <a:t>• 5. Privacy Protection: Verification documents are stored securely and excluded from public discovery.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81D45"/>
                </a:solidFill>
              </a:defRPr>
            </a:pPr>
            <a:r>
              <a:t>CONSENT-DRIVEN EPHEMERAL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1F44"/>
                </a:solidFill>
              </a:defRPr>
            </a:pPr>
            <a:r>
              <a:t>Privacy Is the Product: 24-Hour Ephemeral Reveal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2542032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A1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2267712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366"/>
                </a:solidFill>
              </a:defRPr>
            </a:pPr>
            <a:r>
              <a:t>1. REQUEST SENT</a:t>
            </a:r>
          </a:p>
          <a:p>
            <a:pPr>
              <a:defRPr sz="1400" b="1">
                <a:solidFill>
                  <a:srgbClr val="0A1F44"/>
                </a:solidFill>
              </a:defRPr>
            </a:pPr>
            <a:r>
              <a:t>PENDING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t>Candidate A sends contact request to Candidate B. No contact details exposed.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280160"/>
            <a:ext cx="2542032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7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93592" y="1417320"/>
            <a:ext cx="2267712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366"/>
                </a:solidFill>
              </a:defRPr>
            </a:pPr>
            <a:r>
              <a:t>2. CONSENT GRANTED</a:t>
            </a:r>
          </a:p>
          <a:p>
            <a:pPr>
              <a:defRPr sz="1400" b="1">
                <a:solidFill>
                  <a:srgbClr val="137333"/>
                </a:solidFill>
              </a:defRPr>
            </a:pPr>
            <a:r>
              <a:t>ACCEPTED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t>Candidate B inspects Profile A &amp; explicitly clicks 'Accept'.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280160"/>
            <a:ext cx="2542032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1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18504" y="1417320"/>
            <a:ext cx="2267712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366"/>
                </a:solidFill>
              </a:defRPr>
            </a:pPr>
            <a:r>
              <a:t>3. ACTIVE REVEAL</a:t>
            </a:r>
          </a:p>
          <a:p>
            <a:pPr>
              <a:defRPr sz="1400" b="1">
                <a:solidFill>
                  <a:srgbClr val="C81D45"/>
                </a:solidFill>
              </a:defRPr>
            </a:pPr>
            <a:r>
              <a:t>24:00:00 TIMER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t>Server sets expiresAt = now + 24h. AES-256 decrypted phone &amp; email unlocked.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280160"/>
            <a:ext cx="2542032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36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43416" y="1417320"/>
            <a:ext cx="2267712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366"/>
                </a:solidFill>
              </a:defRPr>
            </a:pPr>
            <a:r>
              <a:t>4. AUTO-LOCKED</a:t>
            </a:r>
          </a:p>
          <a:p>
            <a:pPr>
              <a:defRPr sz="1400" b="1">
                <a:solidFill>
                  <a:srgbClr val="636366"/>
                </a:solidFill>
              </a:defRPr>
            </a:pPr>
            <a:r>
              <a:t>EXPIRED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t>When t &gt; 24h, API returns 403 ACCESS_EXPIRED_OR_LOCKED. Contact re-locks.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89120"/>
            <a:ext cx="10728655" cy="1920240"/>
          </a:xfrm>
          <a:prstGeom prst="roundRect">
            <a:avLst/>
          </a:prstGeom>
          <a:solidFill>
            <a:srgbClr val="0A1F44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526280"/>
            <a:ext cx="10362895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4AF37"/>
                </a:solidFill>
              </a:defRPr>
            </a:pPr>
            <a:r>
              <a:t>🔒 Cryptographic Security &amp; Server-Side Rules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Phone &amp; email are encrypted at rest with AES-256-GCM in PostgreSQL.</a:t>
            </a:r>
            <a:br/>
            <a:r>
              <a:t>• The 24-hour timer applies strictly to contact credential access — NOT the profile itself.</a:t>
            </a:r>
            <a:br/>
            <a:r>
              <a:t>• Server-Side Authority: The browser countdown is only a UI aid; server API validates expiration on every request.</a:t>
            </a:r>
            <a:br/>
            <a:r>
              <a:t>• Secure In-App Chat is an independent capability and remains operational even after contact reveal expires.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81D45"/>
                </a:solidFill>
              </a:defRPr>
            </a:pPr>
            <a:r>
              <a:t>ENCRYPTED PRIVATE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1F44"/>
                </a:solidFill>
              </a:defRPr>
            </a:pPr>
            <a:r>
              <a:t>Secure In-App Messaging &amp; Privacy Shields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578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4892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81D45"/>
                </a:solidFill>
              </a:defRPr>
            </a:pPr>
            <a:r>
              <a:t>💬 Messaging Features &amp; UI Controls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t>• Split-Pane Layout: Thread list on left; active encrypted conversation pane on right.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t>• AES-256 Encryption: Messages encrypted with AES-256-GCM before database insertion.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t>• Read Receipts: Real-time delivery status and double checkmarks (✓✓).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t>• Safety &amp; Blocking: Instant one-click user block and profile report controls.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t>• Rate Limiting: Upstash Redis sliding-window limit of 30 messages/min prevents spam.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280160"/>
            <a:ext cx="5257800" cy="5029200"/>
          </a:xfrm>
          <a:prstGeom prst="roundRect">
            <a:avLst/>
          </a:prstGeom>
          <a:solidFill>
            <a:srgbClr val="07152E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417320"/>
            <a:ext cx="4892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🛡️ Admin Chat Privacy Shield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✔ No Global Chat Reading: Administrators do NOT possess global chat-reading endpoints or database inspection tools.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✔ Repository Constraints: Queries strictly enforce senderId === session.user.id || receiverId === session.user.id.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✔ Reported Message Redaction: Staff may only inspect messages explicitly submitted in an official abuse report with full audit logging.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✔ Zero Side-Channel Access: Operational logs and API traces exclude decrypted candidate conversation content.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81D45"/>
                </a:solidFill>
              </a:defRPr>
            </a:pPr>
            <a:r>
              <a:t>MONETIZATION &amp; RAZORPAY WEBHOOKS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1F44"/>
                </a:solidFill>
              </a:defRPr>
            </a:pPr>
            <a:r>
              <a:t>Premium Membership &amp; Secure Payments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2542032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226771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1F44"/>
                </a:solidFill>
              </a:defRPr>
            </a:pPr>
            <a:r>
              <a:t>Free Tier</a:t>
            </a:r>
          </a:p>
          <a:p>
            <a:pPr>
              <a:defRPr sz="1400" b="1">
                <a:solidFill>
                  <a:srgbClr val="137333"/>
                </a:solidFill>
              </a:defRPr>
            </a:pPr>
            <a:r>
              <a:t>₹0 / Forever</a:t>
            </a:r>
          </a:p>
          <a:p>
            <a:pPr>
              <a:defRPr sz="850">
                <a:solidFill>
                  <a:srgbClr val="07152E"/>
                </a:solidFill>
              </a:defRPr>
            </a:pPr>
            <a:r>
              <a:t>Basic profile, standard browsing, receive contact requests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280160"/>
            <a:ext cx="2542032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93592" y="1371600"/>
            <a:ext cx="226771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1F44"/>
                </a:solidFill>
              </a:defRPr>
            </a:pPr>
            <a:r>
              <a:t>Silver Plan</a:t>
            </a:r>
          </a:p>
          <a:p>
            <a:pPr>
              <a:defRPr sz="1400" b="1">
                <a:solidFill>
                  <a:srgbClr val="137333"/>
                </a:solidFill>
              </a:defRPr>
            </a:pPr>
            <a:r>
              <a:t>₹999 / 1 Month</a:t>
            </a:r>
          </a:p>
          <a:p>
            <a:pPr>
              <a:defRPr sz="850">
                <a:solidFill>
                  <a:srgbClr val="07152E"/>
                </a:solidFill>
              </a:defRPr>
            </a:pPr>
            <a:r>
              <a:t>Unlimited messaging, 5 verified reveals, astro matching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280160"/>
            <a:ext cx="2542032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1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18504" y="1371600"/>
            <a:ext cx="226771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81D45"/>
                </a:solidFill>
              </a:defRPr>
            </a:pPr>
            <a:r>
              <a:t>Gold Plan</a:t>
            </a:r>
          </a:p>
          <a:p>
            <a:pPr>
              <a:defRPr sz="1400" b="1">
                <a:solidFill>
                  <a:srgbClr val="137333"/>
                </a:solidFill>
              </a:defRPr>
            </a:pPr>
            <a:r>
              <a:t>₹1,999 / 3 Months</a:t>
            </a:r>
          </a:p>
          <a:p>
            <a:pPr>
              <a:defRPr sz="850">
                <a:solidFill>
                  <a:srgbClr val="07152E"/>
                </a:solidFill>
              </a:defRPr>
            </a:pPr>
            <a:r>
              <a:t>15 reveals, priority ranking, priority support (Most Popular)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280160"/>
            <a:ext cx="2542032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43416" y="1371600"/>
            <a:ext cx="226771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1F44"/>
                </a:solidFill>
              </a:defRPr>
            </a:pPr>
            <a:r>
              <a:t>Platinum Plan</a:t>
            </a:r>
          </a:p>
          <a:p>
            <a:pPr>
              <a:defRPr sz="1400" b="1">
                <a:solidFill>
                  <a:srgbClr val="137333"/>
                </a:solidFill>
              </a:defRPr>
            </a:pPr>
            <a:r>
              <a:t>₹3,499 / 12 Months</a:t>
            </a:r>
          </a:p>
          <a:p>
            <a:pPr>
              <a:defRPr sz="850">
                <a:solidFill>
                  <a:srgbClr val="07152E"/>
                </a:solidFill>
              </a:defRPr>
            </a:pPr>
            <a:r>
              <a:t>30 reveals, relationship advisor, top tier visibility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10728655" cy="2377440"/>
          </a:xfrm>
          <a:prstGeom prst="roundRect">
            <a:avLst/>
          </a:prstGeom>
          <a:solidFill>
            <a:srgbClr val="0A1F44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69080"/>
            <a:ext cx="10362895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4AF37"/>
                </a:solidFill>
              </a:defRPr>
            </a:pPr>
            <a:r>
              <a:t>💳 Razorpay Payment &amp; Webhook Verification Architecture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Plan Selection ➔ Server Action creates Razorpay Order ➔ Client Standard Modal Checkout (UPI/Cards/Netbanking)</a:t>
            </a:r>
            <a:br/>
            <a:r>
              <a:t>➔ Razorpay dispatches `payment.captured` Webhook ➔ Server validates HMAC SHA-256 Webhook Signature</a:t>
            </a:r>
            <a:br/>
            <a:r>
              <a:t>➔ PostgreSQL updates Subscription / Wallet balance ➔ Transaction receipt &amp; tax invoice emailed via Resend.</a:t>
            </a:r>
            <a:br/>
            <a:br/>
            <a:r>
              <a:t>Pay-Per-Reveal Wallet: ₹99 (1 Reveal) and ₹499 (5 Reveals) allow on-demand contact unlocks without subscriptions.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81D45"/>
                </a:solidFill>
              </a:defRPr>
            </a:pPr>
            <a:r>
              <a:t>14 CORE USER PAGES &amp;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1F44"/>
                </a:solidFill>
              </a:defRPr>
            </a:pPr>
            <a:r>
              <a:t>The KeralamMatch Customer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2029968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417320"/>
            <a:ext cx="181051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81D45"/>
                </a:solidFill>
              </a:defRPr>
            </a:pPr>
            <a:r>
              <a:t>Public &amp; SEO</a:t>
            </a:r>
          </a:p>
          <a:p>
            <a:pPr>
              <a:defRPr sz="900">
                <a:solidFill>
                  <a:srgbClr val="07152E"/>
                </a:solidFill>
              </a:defRPr>
            </a:pPr>
            <a:r>
              <a:t>• Landing Page (/)</a:t>
            </a:r>
          </a:p>
          <a:p>
            <a:pPr>
              <a:defRPr sz="900">
                <a:solidFill>
                  <a:srgbClr val="07152E"/>
                </a:solidFill>
              </a:defRPr>
            </a:pPr>
            <a:r>
              <a:t>• 13 District SEO Hubs</a:t>
            </a:r>
          </a:p>
          <a:p>
            <a:pPr>
              <a:defRPr sz="900">
                <a:solidFill>
                  <a:srgbClr val="07152E"/>
                </a:solidFill>
              </a:defRPr>
            </a:pPr>
            <a:r>
              <a:t>• 6 Community SEO Hubs</a:t>
            </a:r>
          </a:p>
          <a:p>
            <a:pPr>
              <a:defRPr sz="900">
                <a:solidFill>
                  <a:srgbClr val="07152E"/>
                </a:solidFill>
              </a:defRPr>
            </a:pPr>
            <a:r>
              <a:t>• Blog Magazine (/blog)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07791" y="1280160"/>
            <a:ext cx="2029968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417320"/>
            <a:ext cx="181051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81D45"/>
                </a:solidFill>
              </a:defRPr>
            </a:pPr>
            <a:r>
              <a:t>Auth &amp; Onboard</a:t>
            </a:r>
          </a:p>
          <a:p>
            <a:pPr>
              <a:defRPr sz="900">
                <a:solidFill>
                  <a:srgbClr val="07152E"/>
                </a:solidFill>
              </a:defRPr>
            </a:pPr>
            <a:r>
              <a:t>• Mobile SMS OTP Auth</a:t>
            </a:r>
          </a:p>
          <a:p>
            <a:pPr>
              <a:defRPr sz="900">
                <a:solidFill>
                  <a:srgbClr val="07152E"/>
                </a:solidFill>
              </a:defRPr>
            </a:pPr>
            <a:r>
              <a:t>• Google Sign-In</a:t>
            </a:r>
          </a:p>
          <a:p>
            <a:pPr>
              <a:defRPr sz="900">
                <a:solidFill>
                  <a:srgbClr val="07152E"/>
                </a:solidFill>
              </a:defRPr>
            </a:pPr>
            <a:r>
              <a:t>• 10-Step Wizard (/join)</a:t>
            </a:r>
          </a:p>
          <a:p>
            <a:pPr>
              <a:defRPr sz="900">
                <a:solidFill>
                  <a:srgbClr val="07152E"/>
                </a:solidFill>
              </a:defRPr>
            </a:pPr>
            <a:r>
              <a:t>• Cloudinary Gallery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84064" y="1280160"/>
            <a:ext cx="2029968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93792" y="1417320"/>
            <a:ext cx="181051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81D45"/>
                </a:solidFill>
              </a:defRPr>
            </a:pPr>
            <a:r>
              <a:t>Core Member App</a:t>
            </a:r>
          </a:p>
          <a:p>
            <a:pPr>
              <a:defRPr sz="900">
                <a:solidFill>
                  <a:srgbClr val="07152E"/>
                </a:solidFill>
              </a:defRPr>
            </a:pPr>
            <a:r>
              <a:t>• Member Dashboard (/dashboard)</a:t>
            </a:r>
          </a:p>
          <a:p>
            <a:pPr>
              <a:defRPr sz="900">
                <a:solidFill>
                  <a:srgbClr val="07152E"/>
                </a:solidFill>
              </a:defRPr>
            </a:pPr>
            <a:r>
              <a:t>• Find Matches (/find)</a:t>
            </a:r>
          </a:p>
          <a:p>
            <a:pPr>
              <a:defRPr sz="900">
                <a:solidFill>
                  <a:srgbClr val="07152E"/>
                </a:solidFill>
              </a:defRPr>
            </a:pPr>
            <a:r>
              <a:t>• Profile View (/profile/[id])</a:t>
            </a:r>
          </a:p>
          <a:p>
            <a:pPr>
              <a:defRPr sz="900">
                <a:solidFill>
                  <a:srgbClr val="07152E"/>
                </a:solidFill>
              </a:defRPr>
            </a:pPr>
            <a:r>
              <a:t>• Shortlists &amp; Saved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0336" y="1280160"/>
            <a:ext cx="2029968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70063" y="1417320"/>
            <a:ext cx="181051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81D45"/>
                </a:solidFill>
              </a:defRPr>
            </a:pPr>
            <a:r>
              <a:t>Communication</a:t>
            </a:r>
          </a:p>
          <a:p>
            <a:pPr>
              <a:defRPr sz="900">
                <a:solidFill>
                  <a:srgbClr val="07152E"/>
                </a:solidFill>
              </a:defRPr>
            </a:pPr>
            <a:r>
              <a:t>• Encrypted Chat (/chat)</a:t>
            </a:r>
          </a:p>
          <a:p>
            <a:pPr>
              <a:defRPr sz="900">
                <a:solidFill>
                  <a:srgbClr val="07152E"/>
                </a:solidFill>
              </a:defRPr>
            </a:pPr>
            <a:r>
              <a:t>• Contact Requests (/requests)</a:t>
            </a:r>
          </a:p>
          <a:p>
            <a:pPr>
              <a:defRPr sz="900">
                <a:solidFill>
                  <a:srgbClr val="07152E"/>
                </a:solidFill>
              </a:defRPr>
            </a:pPr>
            <a:r>
              <a:t>• 24h Ephemeral Countdown</a:t>
            </a:r>
          </a:p>
          <a:p>
            <a:pPr>
              <a:defRPr sz="900">
                <a:solidFill>
                  <a:srgbClr val="07152E"/>
                </a:solidFill>
              </a:defRPr>
            </a:pPr>
            <a:r>
              <a:t>• Notifications Hub (/notifications)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36608" y="1280160"/>
            <a:ext cx="2029968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46336" y="1417320"/>
            <a:ext cx="181051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81D45"/>
                </a:solidFill>
              </a:defRPr>
            </a:pPr>
            <a:r>
              <a:t>Commerce &amp; Settings</a:t>
            </a:r>
          </a:p>
          <a:p>
            <a:pPr>
              <a:defRPr sz="900">
                <a:solidFill>
                  <a:srgbClr val="07152E"/>
                </a:solidFill>
              </a:defRPr>
            </a:pPr>
            <a:r>
              <a:t>• Pricing Plans (/pricing)</a:t>
            </a:r>
          </a:p>
          <a:p>
            <a:pPr>
              <a:defRPr sz="900">
                <a:solidFill>
                  <a:srgbClr val="07152E"/>
                </a:solidFill>
              </a:defRPr>
            </a:pPr>
            <a:r>
              <a:t>• Wallet Credit Packs</a:t>
            </a:r>
          </a:p>
          <a:p>
            <a:pPr>
              <a:defRPr sz="900">
                <a:solidFill>
                  <a:srgbClr val="07152E"/>
                </a:solidFill>
              </a:defRPr>
            </a:pPr>
            <a:r>
              <a:t>• Account Settings (/settings)</a:t>
            </a:r>
          </a:p>
          <a:p>
            <a:pPr>
              <a:defRPr sz="900">
                <a:solidFill>
                  <a:srgbClr val="07152E"/>
                </a:solidFill>
              </a:defRPr>
            </a:pPr>
            <a:r>
              <a:t>• Trust &amp; Safety (/trust)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ADMIN OPERATIONS &amp; MODERATION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Powerful Governance Without Compromising Privacy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57800" cy="841248"/>
          </a:xfrm>
          <a:prstGeom prst="roundRect">
            <a:avLst/>
          </a:prstGeom>
          <a:solidFill>
            <a:srgbClr val="0F224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4983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1. Admin Login (/admin/login)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Guarded entry gate with session checks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280160"/>
            <a:ext cx="5257800" cy="841248"/>
          </a:xfrm>
          <a:prstGeom prst="roundRect">
            <a:avLst/>
          </a:prstGeom>
          <a:solidFill>
            <a:srgbClr val="0F224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371600"/>
            <a:ext cx="4983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2. Master Dashboard (/admin)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Executive KPIs (Users, Regs, Verified %, Revenue)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40280"/>
            <a:ext cx="5257800" cy="841248"/>
          </a:xfrm>
          <a:prstGeom prst="roundRect">
            <a:avLst/>
          </a:prstGeom>
          <a:solidFill>
            <a:srgbClr val="0F224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331720"/>
            <a:ext cx="4983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3. User Directory (/admin/users)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Directory search, status filters (Active/Banned)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240280"/>
            <a:ext cx="5257800" cy="841248"/>
          </a:xfrm>
          <a:prstGeom prst="roundRect">
            <a:avLst/>
          </a:prstGeom>
          <a:solidFill>
            <a:srgbClr val="0F224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331720"/>
            <a:ext cx="4983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4. Verification Queue (/admin/verification)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Selfie liveness &amp; Aadhaar ID review queue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00400"/>
            <a:ext cx="5257800" cy="841248"/>
          </a:xfrm>
          <a:prstGeom prst="roundRect">
            <a:avLst/>
          </a:prstGeom>
          <a:solidFill>
            <a:srgbClr val="0F224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291840"/>
            <a:ext cx="4983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5. Report Moderation (/admin/reports)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Investigate flagged profiles &amp; safety complaints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200400"/>
            <a:ext cx="5257800" cy="841248"/>
          </a:xfrm>
          <a:prstGeom prst="roundRect">
            <a:avLst/>
          </a:prstGeom>
          <a:solidFill>
            <a:srgbClr val="0F224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291840"/>
            <a:ext cx="4983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6. Revenue &amp; Payments (/admin/payments)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Financial transaction ledger &amp; refund controls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160520"/>
            <a:ext cx="5257800" cy="841248"/>
          </a:xfrm>
          <a:prstGeom prst="roundRect">
            <a:avLst/>
          </a:prstGeom>
          <a:solidFill>
            <a:srgbClr val="0F224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251960"/>
            <a:ext cx="4983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7. Blog CMS (/admin/blog)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Create, edit, publish SEO guides &amp; stories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4160520"/>
            <a:ext cx="5257800" cy="841248"/>
          </a:xfrm>
          <a:prstGeom prst="roundRect">
            <a:avLst/>
          </a:prstGeom>
          <a:solidFill>
            <a:srgbClr val="0F224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4251960"/>
            <a:ext cx="4983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8. FAQ Manager (/admin/faq)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Customer support Q&amp;A content editor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120640"/>
            <a:ext cx="5257800" cy="841248"/>
          </a:xfrm>
          <a:prstGeom prst="roundRect">
            <a:avLst/>
          </a:prstGeom>
          <a:solidFill>
            <a:srgbClr val="0F224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212079"/>
            <a:ext cx="4983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9. Audit Logs (/admin/audit)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Immutable timeline recording staff actions &amp; IPs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5120640"/>
            <a:ext cx="5257800" cy="841248"/>
          </a:xfrm>
          <a:prstGeom prst="roundRect">
            <a:avLst/>
          </a:prstGeom>
          <a:solidFill>
            <a:srgbClr val="0F224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5212079"/>
            <a:ext cx="4983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10. System Settings (/admin/settings)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Platform business rules &amp; reveal durations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81D45"/>
                </a:solidFill>
              </a:defRPr>
            </a:pPr>
            <a:r>
              <a:t>LAYERED CLEAN ARCHITECTURE &amp; CLOUD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1F44"/>
                </a:solidFill>
              </a:defRPr>
            </a:pPr>
            <a:r>
              <a:t>Built for Secure, Scalable Web Delivery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578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A1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4892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1F44"/>
                </a:solidFill>
              </a:defRPr>
            </a:pPr>
            <a:r>
              <a:t>🏛️ Clean Architecture Stack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t>• 1. Presentation Layer: Next.js 16 App Router Server &amp; Client Components + Tailwind CSS v4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t>• 2. API &amp; Controller Layer: Next.js Server Actions &amp; Route Handlers with Zod schema validation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t>• 3. Domain Service Layer: 10 feature modules (Auth, Profile, Matching, Messaging, Contact, etc.)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t>• 4. Repository Layer: Domain-oriented database access isolating Prisma client methods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t>• 5. Persistence Layer: PostgreSQL database hosted on Neon serverless with Prisma ORM v6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280160"/>
            <a:ext cx="52578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417320"/>
            <a:ext cx="4892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81D45"/>
                </a:solidFill>
              </a:defRPr>
            </a:pPr>
            <a:r>
              <a:t>☁️ Managed Cloud Integrations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t>✔ Firebase Authentication: Indian Mobile Phone SMS OTP (+91) &amp; Google OAuth 2.0.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t>✔ Cloudinary CDN: AVIF/WebP image optimization, photo watermarking, audio introductions.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t>✔ Razorpay Gateway: Subscription checkout, wallet refills, HMAC SHA-256 webhooks.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t>✔ Upstash Redis: Server-side sliding-window rate limiting &amp; queue architecture.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t>✔ Resend Email API: Branded transactional HTML emails (welcome, reveal alerts, receipts).</a:t>
            </a:r>
          </a:p>
          <a:p>
            <a:pPr>
              <a:defRPr sz="950">
                <a:solidFill>
                  <a:srgbClr val="07152E"/>
                </a:solidFill>
              </a:defRPr>
            </a:pPr>
            <a:r>
              <a:t>✔ Vercel Edge Hosting: Global serverless deployment with automated TLS 1.3 &amp; Edge caching.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81D45"/>
                </a:solidFill>
              </a:defRPr>
            </a:pPr>
            <a:r>
              <a:t>HARDENING, QA BASELINE &amp; PWA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1F44"/>
                </a:solidFill>
              </a:defRPr>
            </a:pPr>
            <a:r>
              <a:t>Security, Quality &amp; Mobile Readiness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3456432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318211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81D45"/>
                </a:solidFill>
              </a:defRPr>
            </a:pPr>
            <a:r>
              <a:t>🔒 Security Hardening</a:t>
            </a:r>
          </a:p>
          <a:p>
            <a:pPr>
              <a:defRPr sz="900">
                <a:solidFill>
                  <a:srgbClr val="07152E"/>
                </a:solidFill>
              </a:defRPr>
            </a:pPr>
            <a:r>
              <a:t>• AES-256-GCM database encryption for sensitive phone numbers &amp; emails</a:t>
            </a:r>
          </a:p>
          <a:p>
            <a:pPr>
              <a:defRPr sz="900">
                <a:solidFill>
                  <a:srgbClr val="07152E"/>
                </a:solidFill>
              </a:defRPr>
            </a:pPr>
            <a:r>
              <a:t>• HTTP-only, secure, same-site cookie `km_session` prevents XSS theft</a:t>
            </a:r>
          </a:p>
          <a:p>
            <a:pPr>
              <a:defRPr sz="900">
                <a:solidFill>
                  <a:srgbClr val="07152E"/>
                </a:solidFill>
              </a:defRPr>
            </a:pPr>
            <a:r>
              <a:t>• Upstash Redis rate limiting on auth, chat, requests &amp; admin APIs</a:t>
            </a:r>
          </a:p>
          <a:p>
            <a:pPr>
              <a:defRPr sz="900">
                <a:solidFill>
                  <a:srgbClr val="07152E"/>
                </a:solidFill>
              </a:defRPr>
            </a:pPr>
            <a:r>
              <a:t>• Strict Content Security Policy (CSP), HSTS &amp; X-Frame-Options headers</a:t>
            </a:r>
          </a:p>
          <a:p>
            <a:pPr>
              <a:defRPr sz="900">
                <a:solidFill>
                  <a:srgbClr val="07152E"/>
                </a:solidFill>
              </a:defRPr>
            </a:pPr>
            <a:r>
              <a:t>• HMAC SHA-256 signature verification on Razorpay payment webhooks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280160"/>
            <a:ext cx="3456432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07992" y="1417320"/>
            <a:ext cx="318211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37333"/>
                </a:solidFill>
              </a:defRPr>
            </a:pPr>
            <a:r>
              <a:t>🧪 QA Test Baseline</a:t>
            </a:r>
          </a:p>
          <a:p>
            <a:pPr>
              <a:defRPr sz="900">
                <a:solidFill>
                  <a:srgbClr val="07152E"/>
                </a:solidFill>
              </a:defRPr>
            </a:pPr>
            <a:r>
              <a:t>• 24 / 24 Unit Tests Passed (100% Pass Rate in unit.test.ts)</a:t>
            </a:r>
          </a:p>
          <a:p>
            <a:pPr>
              <a:defRPr sz="900">
                <a:solidFill>
                  <a:srgbClr val="07152E"/>
                </a:solidFill>
              </a:defRPr>
            </a:pPr>
            <a:r>
              <a:t>• 8 / 8 E2E Flow Scenarios Passed (100% Pass Rate in production-flows.ts)</a:t>
            </a:r>
          </a:p>
          <a:p>
            <a:pPr>
              <a:defRPr sz="900">
                <a:solidFill>
                  <a:srgbClr val="07152E"/>
                </a:solidFill>
              </a:defRPr>
            </a:pPr>
            <a:r>
              <a:t>• 53 / 53 Next.js App Router routes compiled cleanly</a:t>
            </a:r>
          </a:p>
          <a:p>
            <a:pPr>
              <a:defRPr sz="900">
                <a:solidFill>
                  <a:srgbClr val="07152E"/>
                </a:solidFill>
              </a:defRPr>
            </a:pPr>
            <a:r>
              <a:t>• 0 TypeScript compilation errors (npx tsc --noEmit)</a:t>
            </a:r>
          </a:p>
          <a:p>
            <a:pPr>
              <a:defRPr sz="900">
                <a:solidFill>
                  <a:srgbClr val="07152E"/>
                </a:solidFill>
              </a:defRPr>
            </a:pPr>
            <a:r>
              <a:t>• 0 ESLint errors (npm run lint clean)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1280160"/>
            <a:ext cx="3456432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47304" y="1417320"/>
            <a:ext cx="318211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1F44"/>
                </a:solidFill>
              </a:defRPr>
            </a:pPr>
            <a:r>
              <a:t>📱 Mobile &amp; PWA Strategy</a:t>
            </a:r>
          </a:p>
          <a:p>
            <a:pPr>
              <a:defRPr sz="900">
                <a:solidFill>
                  <a:srgbClr val="07152E"/>
                </a:solidFill>
              </a:defRPr>
            </a:pPr>
            <a:r>
              <a:t>• Responsive layouts verified across 360px, 390px, 430px, 768px &amp; 1440px</a:t>
            </a:r>
          </a:p>
          <a:p>
            <a:pPr>
              <a:defRPr sz="900">
                <a:solidFill>
                  <a:srgbClr val="07152E"/>
                </a:solidFill>
              </a:defRPr>
            </a:pPr>
            <a:r>
              <a:t>• Web App Manifest (manifest.json) configured with app icons &amp; theme</a:t>
            </a:r>
          </a:p>
          <a:p>
            <a:pPr>
              <a:defRPr sz="900">
                <a:solidFill>
                  <a:srgbClr val="07152E"/>
                </a:solidFill>
              </a:defRPr>
            </a:pPr>
            <a:r>
              <a:t>• Service Worker (sw.js) provides asset caching &amp; offline fallback</a:t>
            </a:r>
          </a:p>
          <a:p>
            <a:pPr>
              <a:defRPr sz="900">
                <a:solidFill>
                  <a:srgbClr val="07152E"/>
                </a:solidFill>
              </a:defRPr>
            </a:pPr>
            <a:r>
              <a:t>• Single responsive web codebase ready for PWA installability</a:t>
            </a:r>
          </a:p>
          <a:p>
            <a:pPr>
              <a:defRPr sz="900">
                <a:solidFill>
                  <a:srgbClr val="07152E"/>
                </a:solidFill>
              </a:defRPr>
            </a:pPr>
            <a:r>
              <a:t>• Future Android TWA / Google Play packaging distribution path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PRODUCTION RELEASE GATES &amp; 7-DAY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Ready for Controlled Soft Launch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463040" cy="2926080"/>
          </a:xfrm>
          <a:prstGeom prst="roundRect">
            <a:avLst/>
          </a:prstGeom>
          <a:solidFill>
            <a:srgbClr val="0F224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371600"/>
            <a:ext cx="1316736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Day 1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Prod DB Setup</a:t>
            </a:r>
          </a:p>
          <a:p>
            <a:pPr>
              <a:defRPr sz="800">
                <a:solidFill>
                  <a:srgbClr val="CFD8DC"/>
                </a:solidFill>
              </a:defRPr>
            </a:pPr>
            <a:r>
              <a:t>Neon PostgreSQL &amp; migrations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67712" y="1280160"/>
            <a:ext cx="1463040" cy="2926080"/>
          </a:xfrm>
          <a:prstGeom prst="roundRect">
            <a:avLst/>
          </a:prstGeom>
          <a:solidFill>
            <a:srgbClr val="0F224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40864" y="1371600"/>
            <a:ext cx="1316736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Day 2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Customer QA</a:t>
            </a:r>
          </a:p>
          <a:p>
            <a:pPr>
              <a:defRPr sz="800">
                <a:solidFill>
                  <a:srgbClr val="CFD8DC"/>
                </a:solidFill>
              </a:defRPr>
            </a:pPr>
            <a:r>
              <a:t>Register, 10-step wizard &amp; search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03904" y="1280160"/>
            <a:ext cx="1463040" cy="2926080"/>
          </a:xfrm>
          <a:prstGeom prst="roundRect">
            <a:avLst/>
          </a:prstGeom>
          <a:solidFill>
            <a:srgbClr val="0F224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77056" y="1371600"/>
            <a:ext cx="1316736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Day 3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24h Reveal QA</a:t>
            </a:r>
          </a:p>
          <a:p>
            <a:pPr>
              <a:defRPr sz="800">
                <a:solidFill>
                  <a:srgbClr val="CFD8DC"/>
                </a:solidFill>
              </a:defRPr>
            </a:pPr>
            <a:r>
              <a:t>Consent, timer countdown, chat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0096" y="1280160"/>
            <a:ext cx="1463040" cy="2926080"/>
          </a:xfrm>
          <a:prstGeom prst="roundRect">
            <a:avLst/>
          </a:prstGeom>
          <a:solidFill>
            <a:srgbClr val="0F224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13248" y="1371600"/>
            <a:ext cx="1316736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Day 4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Payments QA</a:t>
            </a:r>
          </a:p>
          <a:p>
            <a:pPr>
              <a:defRPr sz="800">
                <a:solidFill>
                  <a:srgbClr val="CFD8DC"/>
                </a:solidFill>
              </a:defRPr>
            </a:pPr>
            <a:r>
              <a:t>Razorpay sandbox &amp; webhooks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76288" y="1280160"/>
            <a:ext cx="1463040" cy="2926080"/>
          </a:xfrm>
          <a:prstGeom prst="roundRect">
            <a:avLst/>
          </a:prstGeom>
          <a:solidFill>
            <a:srgbClr val="0F224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1371600"/>
            <a:ext cx="1316736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Day 5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Admin Live Data</a:t>
            </a:r>
          </a:p>
          <a:p>
            <a:pPr>
              <a:defRPr sz="800">
                <a:solidFill>
                  <a:srgbClr val="CFD8DC"/>
                </a:solidFill>
              </a:defRPr>
            </a:pPr>
            <a:r>
              <a:t>Prisma live query integration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1280160"/>
            <a:ext cx="1463040" cy="2926080"/>
          </a:xfrm>
          <a:prstGeom prst="roundRect">
            <a:avLst/>
          </a:prstGeom>
          <a:solidFill>
            <a:srgbClr val="0F224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85632" y="1371600"/>
            <a:ext cx="1316736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Day 6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PWA &amp; SEO</a:t>
            </a:r>
          </a:p>
          <a:p>
            <a:pPr>
              <a:defRPr sz="800">
                <a:solidFill>
                  <a:srgbClr val="CFD8DC"/>
                </a:solidFill>
              </a:defRPr>
            </a:pPr>
            <a:r>
              <a:t>Sitemap, robots &amp; mobile checks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48672" y="1280160"/>
            <a:ext cx="1463040" cy="2926080"/>
          </a:xfrm>
          <a:prstGeom prst="roundRect">
            <a:avLst/>
          </a:prstGeom>
          <a:solidFill>
            <a:srgbClr val="0F224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21824" y="1371600"/>
            <a:ext cx="1316736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Day 7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Soft Launch</a:t>
            </a:r>
          </a:p>
          <a:p>
            <a:pPr>
              <a:defRPr sz="800">
                <a:solidFill>
                  <a:srgbClr val="CFD8DC"/>
                </a:solidFill>
              </a:defRPr>
            </a:pPr>
            <a:r>
              <a:t>Domain switchover &amp; live launch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389120"/>
            <a:ext cx="10728655" cy="1920240"/>
          </a:xfrm>
          <a:prstGeom prst="roundRect">
            <a:avLst/>
          </a:prstGeom>
          <a:solidFill>
            <a:srgbClr val="0F224A"/>
          </a:solidFill>
          <a:ln w="12700">
            <a:solidFill>
              <a:srgbClr val="C81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526280"/>
            <a:ext cx="10362895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KeralamMatch</a:t>
            </a:r>
          </a:p>
          <a:p>
            <a:pPr algn="ctr">
              <a:defRPr sz="1600" b="1">
                <a:solidFill>
                  <a:srgbClr val="D4AF37"/>
                </a:solidFill>
              </a:defRPr>
            </a:pPr>
            <a:r>
              <a:t>Discover  ➔  Verify  ➔  Match  ➔  Consent  ➔  Communicate  ➔  Protect</a:t>
            </a:r>
          </a:p>
          <a:p>
            <a:pPr algn="ctr">
              <a:defRPr sz="1100">
                <a:solidFill>
                  <a:srgbClr val="CFD8DC"/>
                </a:solidFill>
              </a:defRPr>
            </a:pPr>
            <a:r>
              <a:t>Privacy First. Verified Identity. Cultural Relevance. Controlled 24-Hour Ephemeral Reveal.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