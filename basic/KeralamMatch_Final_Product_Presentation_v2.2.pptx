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KeralamMatch</a:t>
            </a:r>
          </a:p>
          <a:p>
            <a:pPr>
              <a:defRPr sz="2200" b="1">
                <a:solidFill>
                  <a:srgbClr val="D4AF37"/>
                </a:solidFill>
              </a:defRPr>
            </a:pPr>
            <a:r>
              <a:t>Privacy-First Matrimony for Kerala &amp; the Global Malayali Community</a:t>
            </a:r>
          </a:p>
          <a:p>
            <a:pPr>
              <a:defRPr sz="1400">
                <a:solidFill>
                  <a:srgbClr val="CFD8DC"/>
                </a:solidFill>
              </a:defRPr>
            </a:pPr>
            <a:r>
              <a:t>Master Software Architecture &amp; End-to-End Product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2468880" cy="164592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97763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Consent-Based Ephemeral Reveal</a:t>
            </a:r>
          </a:p>
          <a:p>
            <a:pPr>
              <a:defRPr sz="950">
                <a:solidFill>
                  <a:srgbClr val="B0BEC5"/>
                </a:solidFill>
              </a:defRPr>
            </a:pPr>
            <a:r>
              <a:t>24-Hour Time-Bound Credential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840480"/>
            <a:ext cx="2468880" cy="164592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397763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Multi-Layer Trust System</a:t>
            </a:r>
          </a:p>
          <a:p>
            <a:pPr>
              <a:defRPr sz="950">
                <a:solidFill>
                  <a:srgbClr val="B0BEC5"/>
                </a:solidFill>
              </a:defRPr>
            </a:pPr>
            <a:r>
              <a:t>Mobile, Email, Selfie Liveness &amp; Govt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2468880" cy="164592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397763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Compatibility Engine</a:t>
            </a:r>
          </a:p>
          <a:p>
            <a:pPr>
              <a:defRPr sz="950">
                <a:solidFill>
                  <a:srgbClr val="B0BEC5"/>
                </a:solidFill>
              </a:defRPr>
            </a:pPr>
            <a:r>
              <a:t>7-Dimension Algorithmic Scoring + Smart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840480"/>
            <a:ext cx="2468880" cy="164592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397763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Clean Architecture Stack</a:t>
            </a:r>
          </a:p>
          <a:p>
            <a:pPr>
              <a:defRPr sz="950">
                <a:solidFill>
                  <a:srgbClr val="B0BEC5"/>
                </a:solidFill>
              </a:defRPr>
            </a:pPr>
            <a:r>
              <a:t>Next.js 16 · Prisma · PostgreSQL · Razorpay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366"/>
                </a:solidFill>
              </a:defRPr>
            </a:pPr>
            <a:r>
              <a:t>Master Software &amp; Product Documentation — Final Canonical Baseline v2.2 | Production Soft-Launch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PRODUCT VISION &amp; 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One Trusted Journey from Discovery to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914400"/>
          </a:xfrm>
          <a:prstGeom prst="roundRect">
            <a:avLst/>
          </a:prstGeom>
          <a:solidFill>
            <a:srgbClr val="0A1F44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</a:rPr>
              <a:t>Discover  ➔  Verify  ➔  Match  ➔  Consent  ➔  Communicate  ➔  Protect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309067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rPr sz="1400" dirty="0"/>
              <a:t>🔒 Privacy First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600" dirty="0"/>
              <a:t>Candidate phone &amp; email are never publicly exposed. Contact details are encrypted with AES-256-GCM and unlocked strictly via mutual consent.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42316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587752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🛡️ Trust Built-In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Multi-stage verification combining SMS OTP, email validation, Cloudinary selfie liveness, and Aadhaar ID queue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42316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3" y="2587752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🧠 AI-Assisted Discovery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7-dimension weighted algorithmic compatibility scoring (%) paired with conversational natural language Smart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599431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⏱️ Controlled Communication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24-hour time-bound ephemeral contact window with automatic server-side re-locking upon expiration.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43484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4599431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💬 Encrypted In-App Chat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Private, participant-authorized in-app messaging with read receipts and strict admin privacy shields.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443484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4599431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👨‍💼 Operational Governance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Dedicated admin portal for verification queue approvals, abuse moderation, financial ledger, and immutable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PLATFORM ARCHITECTURE &amp; MODULAR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KeralamMatch — End-to-End User &amp; Admin Journey</a:t>
            </a:r>
          </a:p>
        </p:txBody>
      </p:sp>
      <p:pic>
        <p:nvPicPr>
          <p:cNvPr id="5" name="Picture 4" descr="KeralamMatch_User_Admin_Journey_Flow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89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Canonical Flow: 1. Landing/SEO ➔ 2. Auth &amp; OTP ➔ 3. 10-Step Onboarding ➔ 4. AI Matching ➔ 5. 24h Reveal &amp; Chat ➔ 6. Razorpay ➔ 7. Admin Moderation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UX FLOW &amp; LIFECYCLE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Customer Journey: New vs. Returning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9204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81D45"/>
                </a:solidFill>
              </a:defRPr>
            </a:pPr>
            <a:r>
              <a:rPr dirty="0"/>
              <a:t>🆕 New User Journey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1. Discovery: Visitor arrives via Landing Page (/), District SEO, or Blog.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2. Authentication: Enters Indian Mobile (+91) ➔ Verifies SMS OTP ➔ Sets </a:t>
            </a:r>
            <a:r>
              <a:rPr sz="1400" dirty="0" err="1"/>
              <a:t>km_session</a:t>
            </a:r>
            <a:r>
              <a:rPr sz="1400" dirty="0"/>
              <a:t>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3. 10-Step Onboarding: Guided profile creation at /join (Demographics, Career, Family).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4. Media Upload (Step 9): Uploads gallery photos to </a:t>
            </a:r>
            <a:r>
              <a:rPr sz="1400" dirty="0" err="1"/>
              <a:t>Cloudinary</a:t>
            </a:r>
            <a:r>
              <a:rPr sz="1400" dirty="0"/>
              <a:t> CDN &amp; voice intro.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5. Verification (Step 10): Captures selfie liveness &amp; optional Aadhaar ID submission.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6. Dashboard Entry: 100% completion unlocks personalized recommendations on /dashboard.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489204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F44"/>
                </a:solidFill>
              </a:defRPr>
            </a:pPr>
            <a:r>
              <a:rPr dirty="0"/>
              <a:t>👤 Returning / Registered User Journey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1. Secure Login: Signs in with OTP or Google OAuth at /auth ➔ Validates active session.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2. Profile Status Check: Complete profile ➔ Skips onboarding ➔ Direct to Dashboard.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3. Incomplete Resume: Incomplete profile ➔ Resumes exactly from last saved step.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4. Candidate Discovery: Browses matches at /find using demographic filters &amp; AI search.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5. Interaction: Shortlists profiles, sends interest, or triggers contact reveal requests.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rPr sz="1400" dirty="0"/>
              <a:t>• 6. 24h Reveal &amp; Chat: Consent unlock activates 24h countdown &amp; encrypted in-app chat.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AUTHENTICATION &amp; 10-STEP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From Secure Login to a Complete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D45"/>
                </a:solidFill>
              </a:defRPr>
            </a:pPr>
            <a:r>
              <a:t>📱 Authentication Gate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Firebase SMS Phone OTP (+91)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Google OAuth 2.0 Provider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Encrypted HTTP-only Cookie (`km_session`)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Sandbox OTP Fallback (`123456`) disabled in production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Role-based route &amp; API session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80160"/>
            <a:ext cx="720547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68397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📝 Progressive 10-Step Onboarding Wizard (/join)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79" y="199339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1: Basic Info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Name, DOB, gender, profile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92024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199339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2: Physical Traits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Height (cm), complexion, body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8892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286207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3: Religion &amp; Caste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Religion, caste, star, horoscope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78892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86207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4: Education &amp; Career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Degree, university, profession, income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5760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373075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5: Location Details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State, district, current city, 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5760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373075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6: Family Background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Joint/Nuclear, status, parents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526279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79" y="4599431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7: Lifestyle Habits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Dietary preferences, habits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526279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4599431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8: Partner Preference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Age, height, religion, district filters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5394960"/>
            <a:ext cx="3246120" cy="749808"/>
          </a:xfrm>
          <a:prstGeom prst="roundRect">
            <a:avLst/>
          </a:prstGeom>
          <a:solidFill>
            <a:srgbClr val="FDF2F4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79" y="546811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D45"/>
                </a:solidFill>
              </a:defRPr>
            </a:pPr>
            <a:r>
              <a:t>Step 9: Media Upload ⭐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Cloudinary photo dropzone &amp; voice intro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5394960"/>
            <a:ext cx="3246120" cy="749808"/>
          </a:xfrm>
          <a:prstGeom prst="roundRect">
            <a:avLst/>
          </a:prstGeom>
          <a:solidFill>
            <a:srgbClr val="FDF2F4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60" y="546811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D45"/>
                </a:solidFill>
              </a:defRPr>
            </a:pPr>
            <a:r>
              <a:t>Step 10: Verification ⭐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Selfie liveness capture &amp; ID submit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ALGORITHMIC 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7-Dimension Compatibility Matching + Smart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1. Religion &amp; Caste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90 pts for same religion; +10 bonus for same caste/sub-caste.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40864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2. Education &amp; Career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Compares degree levels &amp; occupational alignment.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904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7056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3. Lifestyle Alignment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Matches dietary preferences (Veg/Non-Veg) &amp; travel cues.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13248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4. Location Proximity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Same district = 100 pts; same state = 75 pts; outside = 50 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5. Family &amp; Marital Values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Evaluates marital status background &amp; family traditions.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6. Career Goals &amp; Migration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Identifies mutual plans for GCC/abroad relocation.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21824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7. Communication Style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Calculates base interpersonal communication compatibility.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0A1F4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🧠 Conversational Smart Search (/find)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Natural language queries (e.g. 'Software engineer in Ernakulam preferring vegetarian diet') are automatically tokenized into structured database filter criteria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MULTI-STAGE VERIFICATION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Trust Built Into Every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📱 Mobile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Firebase OTP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Confirmed owner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40864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✉️ Email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Validation Link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Active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904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7056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🤳 Selfie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Facial Liveness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Real individual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13248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🪪 Identity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Aadhaar / ID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Govt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💼 Career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Work Email / ID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Employment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💰 Income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Tax / Salary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Income 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21824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🏠 Address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Utility Evidence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Residency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10728655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🔄 Verification Queue &amp; Operational Workflow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1. Submission: Candidate uploads selfie liveness &amp; Aadhaar ID in Onboarding Step 10.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2. Queue Ingestion: Profile enters Admin Verification Queue (/admin/verification) with status = PENDING.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3. Admin Inspection: Compliance officer verifies selfie likeness against submitted identity proof.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4. Decision: One-click Approve generates a green verified trust badge; Reject sends actionable re-upload prompts.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5. Privacy Protection: Verification documents are stored securely and excluded from public discovery.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CONSENT-DRIVEN EPHEMERAL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Privacy Is the Product: 24-Hour Ephemeral 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366"/>
                </a:solidFill>
              </a:defRPr>
            </a:pPr>
            <a:r>
              <a:t>1. REQUEST SENT</a:t>
            </a:r>
          </a:p>
          <a:p>
            <a:pPr>
              <a:defRPr sz="1400" b="1">
                <a:solidFill>
                  <a:srgbClr val="0A1F44"/>
                </a:solidFill>
              </a:defRPr>
            </a:pPr>
            <a:r>
              <a:t>PENDING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Candidate A sends contact request to Candidate B. No contact details exposed.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1417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366"/>
                </a:solidFill>
              </a:defRPr>
            </a:pPr>
            <a:r>
              <a:t>2. CONSENT GRANTED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ACCEPTED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Candidate B inspects Profile A &amp; explicitly clicks 'Accept'.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8504" y="1417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366"/>
                </a:solidFill>
              </a:defRPr>
            </a:pPr>
            <a:r>
              <a:t>3. ACTIVE REVEAL</a:t>
            </a:r>
          </a:p>
          <a:p>
            <a:pPr>
              <a:defRPr sz="1400" b="1">
                <a:solidFill>
                  <a:srgbClr val="C81D45"/>
                </a:solidFill>
              </a:defRPr>
            </a:pPr>
            <a:r>
              <a:t>24:00:00 TIMER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Server sets expiresAt = now + 24h. AES-256 decrypted phone &amp; email unlocked.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801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43416" y="1417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366"/>
                </a:solidFill>
              </a:defRPr>
            </a:pPr>
            <a:r>
              <a:t>4. AUTO-LOCKED</a:t>
            </a:r>
          </a:p>
          <a:p>
            <a:pPr>
              <a:defRPr sz="1400" b="1">
                <a:solidFill>
                  <a:srgbClr val="636366"/>
                </a:solidFill>
              </a:defRPr>
            </a:pPr>
            <a:r>
              <a:t>EXPIRED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When t &gt; 24h, API returns 403 ACCESS_EXPIRED_OR_LOCKED. Contact re-locks.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0A1F4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🔒 Cryptographic Security &amp; Server-Side Rules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Phone &amp; email are encrypted at rest with AES-256-GCM in PostgreSQL.</a:t>
            </a:r>
            <a:br/>
            <a:r>
              <a:t>• The 24-hour timer applies strictly to contact credential access — NOT the profile itself.</a:t>
            </a:r>
            <a:br/>
            <a:r>
              <a:t>• Server-Side Authority: The browser countdown is only a UI aid; server API validates expiration on every request.</a:t>
            </a:r>
            <a:br/>
            <a:r>
              <a:t>• Secure In-App Chat is an independent capability and remains operational even after contact reveal expires.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ENCRYPTED PRIVATE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Secure In-App Messaging &amp; Privacy Shields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D45"/>
                </a:solidFill>
              </a:defRPr>
            </a:pPr>
            <a:r>
              <a:t>💬 Messaging Features &amp; UI Controls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Split-Pane Layout: Thread list on left; active encrypted conversation pane on right.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AES-256 Encryption: Messages encrypted with AES-256-GCM before database insertion.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Read Receipts: Real-time delivery status and double checkmarks (✓✓).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Safety &amp; Blocking: Instant one-click user block and profile report controls.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Rate Limiting: Upstash Redis sliding-window limit of 30 messages/min prevents spam.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257800" cy="5029200"/>
          </a:xfrm>
          <a:prstGeom prst="roundRect">
            <a:avLst/>
          </a:prstGeom>
          <a:solidFill>
            <a:srgbClr val="07152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🛡️ Admin Chat Privacy Shield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✔ No Global Chat Reading: Administrators do NOT possess global chat-reading endpoints or database inspection tools.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✔ Repository Constraints: Queries strictly enforce senderId === session.user.id || receiverId === session.user.id.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✔ Reported Message Redaction: Staff may only inspect messages explicitly submitted in an official abuse report with full audit logging.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✔ Zero Side-Channel Access: Operational logs and API traces exclude decrypted candidate conversation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MONETIZATION &amp; RAZORPAY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Premium Membership &amp; Secure Payments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4203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F44"/>
                </a:solidFill>
              </a:defRPr>
            </a:pPr>
            <a:r>
              <a:t>Free Tier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₹0 / Forever</a:t>
            </a:r>
          </a:p>
          <a:p>
            <a:pPr>
              <a:defRPr sz="850">
                <a:solidFill>
                  <a:srgbClr val="07152E"/>
                </a:solidFill>
              </a:defRPr>
            </a:pPr>
            <a:r>
              <a:t>Basic profile, standard browsing, receive contact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4203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13716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F44"/>
                </a:solidFill>
              </a:defRPr>
            </a:pPr>
            <a:r>
              <a:t>Silver Plan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₹999 / 1 Month</a:t>
            </a:r>
          </a:p>
          <a:p>
            <a:pPr>
              <a:defRPr sz="850">
                <a:solidFill>
                  <a:srgbClr val="07152E"/>
                </a:solidFill>
              </a:defRPr>
            </a:pPr>
            <a:r>
              <a:t>Unlimited messaging, 5 verified reveals, astro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8504" y="13716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Gold Plan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₹1,999 / 3 Months</a:t>
            </a:r>
          </a:p>
          <a:p>
            <a:pPr>
              <a:defRPr sz="850">
                <a:solidFill>
                  <a:srgbClr val="07152E"/>
                </a:solidFill>
              </a:defRPr>
            </a:pPr>
            <a:r>
              <a:t>15 reveals, priority ranking, priority support (Most Popular)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80160"/>
            <a:ext cx="254203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43416" y="13716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F44"/>
                </a:solidFill>
              </a:defRPr>
            </a:pPr>
            <a:r>
              <a:t>Platinum Plan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₹3,499 / 12 Months</a:t>
            </a:r>
          </a:p>
          <a:p>
            <a:pPr>
              <a:defRPr sz="850">
                <a:solidFill>
                  <a:srgbClr val="07152E"/>
                </a:solidFill>
              </a:defRPr>
            </a:pPr>
            <a:r>
              <a:t>30 reveals, relationship advisor, top tier visibility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0A1F4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362895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💳 Razorpay Payment &amp; Webhook Verification Architecture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Plan Selection ➔ Server Action creates Razorpay Order ➔ Client Standard Modal Checkout (UPI/Cards/Netbanking)</a:t>
            </a:r>
            <a:br/>
            <a:r>
              <a:t>➔ Razorpay dispatches `payment.captured` Webhook ➔ Server validates HMAC SHA-256 Webhook Signature</a:t>
            </a:r>
            <a:br/>
            <a:r>
              <a:t>➔ PostgreSQL updates Subscription / Wallet balance ➔ Transaction receipt &amp; tax invoice emailed via Resend.</a:t>
            </a:r>
            <a:br/>
            <a:br/>
            <a:r>
              <a:t>Pay-Per-Reveal Wallet: ₹99 (1 Reveal) and ₹499 (5 Reveals) allow on-demand contact unlocks without subscriptions.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14 CORE USER PAGES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The KeralamMatch Customer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Public &amp; SEO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Landing Page (/)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13 District SEO Hubs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6 Community SEO Hubs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Blog Magazine (/blog)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Auth &amp; Onboard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Mobile SMS OTP Auth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Google Sign-In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10-Step Wizard (/join)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Cloudinary Gallery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3792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Core Member App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Member Dashboard (/dashboard)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Find Matches (/find)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Profile View (/profile/[id])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Shortlists &amp;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70063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Communication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Encrypted Chat (/chat)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Contact Requests (/requests)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24h Ephemeral Countdown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Notifications Hub (/notifications)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46336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Commerce &amp; Settings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Pricing Plans (/pricing)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Wallet Credit Packs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Account Settings (/settings)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Trust &amp; Safety (/trust)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ADMIN OPERATIONS &amp; MODERATION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Powerful Governance Without Compromising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1. Admin Login (/admin/login)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Guarded entry gate with session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2. Master Dashboard (/admin)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Executive KPIs (Users, Regs, Verified %, Revenue)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3. User Directory (/admin/users)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Directory search, status filters (Active/Banned)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4. Verification Queue (/admin/verification)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Selfie liveness &amp; Aadhaar ID review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5. Report Moderation (/admin/reports)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Investigate flagged profiles &amp; safety complaints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29184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6. Revenue &amp; Payments (/admin/payments)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Financial transaction ledger &amp; refund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052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7. Blog CMS (/admin/blog)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Create, edit, publish SEO guides &amp; stories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6052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425196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8. FAQ Manager (/admin/faq)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Customer support Q&amp;A content editor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212079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9. Audit Logs (/admin/audit)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Immutable timeline recording staff actions &amp; IPs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12064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5212079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10. System Settings (/admin/settings)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Platform business rules &amp; reveal durations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LAYERED CLEAN ARCHITECTURE &amp; CLOUD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Built for Secure, Scalable Web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🏛️ Clean Architecture Stack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1. Presentation Layer: Next.js 16 App Router Server &amp; Client Components + Tailwind CSS v4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2. API &amp; Controller Layer: Next.js Server Actions &amp; Route Handlers with Zod schema validation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3. Domain Service Layer: 10 feature modules (Auth, Profile, Matching, Messaging, Contact, etc.)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4. Repository Layer: Domain-oriented database access isolating Prisma client methods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5. Persistence Layer: PostgreSQL database hosted on Neon serverless with Prisma ORM v6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D45"/>
                </a:solidFill>
              </a:defRPr>
            </a:pPr>
            <a:r>
              <a:t>☁️ Managed Cloud Integrations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Firebase Authentication: Indian Mobile Phone SMS OTP (+91) &amp; Google OAuth 2.0.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Cloudinary CDN: AVIF/WebP image optimization, photo watermarking, audio introductions.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Razorpay Gateway: Subscription checkout, wallet refills, HMAC SHA-256 webhooks.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Upstash Redis: Server-side sliding-window rate limiting &amp; queue architecture.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Resend Email API: Branded transactional HTML emails (welcome, reveal alerts, receipts).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Vercel Edge Hosting: Global serverless deployment with automated TLS 1.3 &amp; Edge caching.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HARDENING, QA BASELINE &amp; PWA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Security, Quality &amp; Mobile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1821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🔒 Security Hardening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AES-256-GCM database encryption for sensitive phone numbers &amp; emails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HTTP-only, secure, same-site cookie `km_session` prevents XSS theft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Upstash Redis rate limiting on auth, chat, requests &amp; admin APIs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Strict Content Security Policy (CSP), HSTS &amp; X-Frame-Options headers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HMAC SHA-256 signature verification on Razorpay payment webhooks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417320"/>
            <a:ext cx="31821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7333"/>
                </a:solidFill>
              </a:defRPr>
            </a:pPr>
            <a:r>
              <a:t>🧪 QA Test Baseline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24 / 24 Unit Tests Passed (100% Pass Rate in unit.test.ts)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8 / 8 E2E Flow Scenarios Passed (100% Pass Rate in production-flows.ts)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53 / 53 Next.js App Router routes compiled cleanly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0 TypeScript compilation errors (npx tsc --noEmit)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0 ESLint errors (npm run lint clean)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47304" y="1417320"/>
            <a:ext cx="31821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F44"/>
                </a:solidFill>
              </a:defRPr>
            </a:pPr>
            <a:r>
              <a:t>📱 Mobile &amp; PWA Strategy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Responsive layouts verified across 360px, 390px, 430px, 768px &amp; 1440px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Web App Manifest (manifest.json) configured with app icons &amp; theme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Service Worker (sw.js) provides asset caching &amp; offline fallback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Single responsive web codebase ready for PWA installability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Future Android TWA / Google Play packaging distribution path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PRODUCTION RELEASE GATES &amp; 7-DAY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Ready for Controlled Soft Launch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1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Prod DB Setup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Neon PostgreSQL &amp; migrations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40864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2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Customer QA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Register, 10-step wizard &amp;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904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7056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3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24h Reveal QA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Consent, timer countdown,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13248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4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Payments QA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Razorpay sandbox &amp; webhooks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5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Admin Live Data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Prisma live query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6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PWA &amp; SEO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Sitemap, robots &amp; mobile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21824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7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Soft Launch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Domain switchover &amp; live launch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KeralamMatch</a:t>
            </a:r>
          </a:p>
          <a:p>
            <a:pPr algn="ctr">
              <a:defRPr sz="1600" b="1">
                <a:solidFill>
                  <a:srgbClr val="D4AF37"/>
                </a:solidFill>
              </a:defRPr>
            </a:pPr>
            <a:r>
              <a:t>Discover  ➔  Verify  ➔  Match  ➔  Consent  ➔  Communicate  ➔  Protect</a:t>
            </a:r>
          </a:p>
          <a:p>
            <a:pPr algn="ctr">
              <a:defRPr sz="1100">
                <a:solidFill>
                  <a:srgbClr val="CFD8DC"/>
                </a:solidFill>
              </a:defRPr>
            </a:pPr>
            <a:r>
              <a:t>Privacy First. Verified Identity. Cultural Relevance. Controlled 24-Hour Ephemeral Reveal.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2328</Words>
  <Application>Microsoft Office PowerPoint</Application>
  <PresentationFormat>Widescreen</PresentationFormat>
  <Paragraphs>284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Jinitha Kumari J R</cp:lastModifiedBy>
  <cp:revision>2</cp:revision>
  <dcterms:created xsi:type="dcterms:W3CDTF">2013-01-27T09:14:16Z</dcterms:created>
  <dcterms:modified xsi:type="dcterms:W3CDTF">2026-08-15T21:16:50Z</dcterms:modified>
  <cp:category/>
</cp:coreProperties>
</file>